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notesMaster" Target="notesMasters/notesMaster1.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Set the scene. V4-Pro is 1.6T parameters with 49B activated and a one-million-token context (V4 report, abstract); the Pro config is 384 experts, top-6, hidden 7168, intermediate 3072 (DeepGEMM PR #316). The point of the figure: these are all matmuls, but no two of them have the same operand types or shapes.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baseline is not a weak one: it is DeepSeek's own carefully optimized CUTLASS 3.6 implementation, measured on the same H800. The gap is largest at small M, which is exactly where decoding lives; at M=4096 the same table shows 1.1-1.3x.</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Four mismatches, all from the primary sources: fine-grained FP8 needs a scale per 1x128 tile along K (V3 §3.3.2); MoE token counts per expert are only known on the GPU once routing has run; V4 runs FP8 activations against FP4 expert weights; and the expert GEMMs sit between EP dispatch and combine. A library whose interface is one dtype, one scale and host-side shapes cannot take these.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design bet behind the whole library. The first release made the claim concrete: one core kernel function of about 300 lines. Today the SM90 FP8 kernel is 452 lines and the SM100 FP8/FP4 kernel 579 lines - counted from the repository, so a derived number.</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it bottom-up: DeepJIT compiles and caches one specialization per shape; a shared block scheduler, TMA/tcgen05 pipeline, scale-factor layout and epilogue serve every kernel; five families sit on top, exposed through one Python module. The deck numbers point at the sibling decks in this series.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naming is D = C + A @ B with an NT input layout. On Hopper the scale factors stay FP32 and the kernel promotes to CUDA cores; on Blackwell the scales are packed UE8M0 exponents consumed by the block-scaled tcgen05 MMA. Deck 30 takes this apart.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Only the M axis is grouped - N and K stay fixed, because experts in an MoE share their shape. That restriction is what makes one kernel enough. The masked variant exists because during decoding with CUDA Graphs the CPU does not know how many tokens each expert received.</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Mega MoE fuses EP dispatch, linear 1, SwiGLU, linear 2 and EP combine into one kernel over symmetric memory, so NVLink traffic for the next wave of experts overlaps tensor-core work on the current one. Deck 35 is the deep dive; deck 41 covers Mega Gate and Mega mHC; deck 10 the indexer scoring kernels.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Numbers from the March 2025 README table (H800 SXM5, NVCC 12.8); speedups are against DeepSeek's tuned CUTLASS 3.6 implementation. The 1550 TFLOPS peak is the April 2025 release note. These are Hopper numbers; the library has since added SM100.</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From the Mega MoE benchmark PR #316; the V4 report states the same range for the fine-grained EP scheme: 1.50 to 1.73x for general inference and up to 1.96x for latency-sensitive workloads. At 32768 tokens per rank the kernel sustains about 2.0-2.4 PFLOPS.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All three from the September 2026 release notes, PR #432. The pattern repeats: the GEMM was never the only cost, the surrounding elementwise and routing work was, and the library keeps absorbing it.</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batch-invariance claim is from V4 section 3.3: cuBLAS cannot guarantee that a token's output is bitwise independent of its batch position, so DeepGEMM replaced it. SGLang has compile_deep_gemm.py and a deep_gemm_wrapper; vLLM has deep_gemm warmup and MoE paths. Star count from the GitHub API on 2026-10-13.</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 honest about the edges. The library deliberately optimizes GEMMs only - the quantization casts are expected to be fused into your previous kernel. Since the 2026-09 release determinism is opt-in rather than the default, which deck 39 covers.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Leave this up during questions. The sibling decks: 30 dense GEMM and UE8M0, 32-34 grouped GEMMs, 35 Mega MoE, 41 Mega Gate and mHC, 10 indexer scoring, 39 DeepJIT and determinism.</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8.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9.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10.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1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1371600"/>
            <a:ext cx="11094415" cy="2011680"/>
          </a:xfrm>
          <a:prstGeom prst="rect">
            <a:avLst/>
          </a:prstGeom>
          <a:noFill/>
        </p:spPr>
        <p:txBody>
          <a:bodyPr wrap="square" lIns="45720" rIns="45720" tIns="27432" bIns="27432" anchor="b">
            <a:spAutoFit/>
          </a:bodyPr>
          <a:lstStyle/>
          <a:p>
            <a:r>
              <a:rPr sz="4000" b="1" i="0">
                <a:solidFill>
                  <a:srgbClr val="1F4E79"/>
                </a:solidFill>
                <a:latin typeface="Calibri"/>
              </a:rPr>
              <a:t>DeepGEMM</a:t>
            </a:r>
          </a:p>
          <a:p>
            <a:pPr>
              <a:spcBef>
                <a:spcPts val="600"/>
              </a:spcBef>
            </a:pPr>
            <a:r>
              <a:rPr sz="2600" b="0" i="0">
                <a:solidFill>
                  <a:srgbClr val="222222"/>
                </a:solidFill>
                <a:latin typeface="Calibri"/>
              </a:rPr>
              <a:t>One tensor-core kernel library for a whole MoE model</a:t>
            </a:r>
          </a:p>
        </p:txBody>
      </p:sp>
      <p:sp>
        <p:nvSpPr>
          <p:cNvPr id="3" name="Rectangle 2"/>
          <p:cNvSpPr/>
          <p:nvPr/>
        </p:nvSpPr>
        <p:spPr>
          <a:xfrm>
            <a:off x="548640" y="3520440"/>
            <a:ext cx="1463040" cy="54864"/>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749039"/>
            <a:ext cx="11094415" cy="1188720"/>
          </a:xfrm>
          <a:prstGeom prst="rect">
            <a:avLst/>
          </a:prstGeom>
          <a:noFill/>
        </p:spPr>
        <p:txBody>
          <a:bodyPr wrap="square" lIns="45720" rIns="45720" tIns="27432" bIns="27432" anchor="t">
            <a:spAutoFit/>
          </a:bodyPr>
          <a:lstStyle/>
          <a:p>
            <a:r>
              <a:rPr sz="2200" b="0" u="none">
                <a:solidFill>
                  <a:srgbClr val="222222"/>
                </a:solidFill>
                <a:latin typeface="Calibri"/>
              </a:rPr>
              <a:t>DeepSeek-AI · DeepGEMM v2.8.1</a:t>
            </a:r>
          </a:p>
          <a:p>
            <a:pPr>
              <a:spcBef>
                <a:spcPts val="600"/>
              </a:spcBef>
            </a:pPr>
            <a:r>
              <a:rPr sz="1800" b="0" i="0">
                <a:solidFill>
                  <a:srgbClr val="6E6E6E"/>
                </a:solidFill>
                <a:latin typeface="Calibri"/>
              </a:rPr>
              <a:t>Explainer deck · Industrial Pretraining Architecture &amp; Infra Tech Landscape (2026)</a:t>
            </a:r>
          </a:p>
        </p:txBody>
      </p:sp>
      <p:sp>
        <p:nvSpPr>
          <p:cNvPr id="5" name="TextBox 4"/>
          <p:cNvSpPr txBox="1"/>
          <p:nvPr/>
        </p:nvSpPr>
        <p:spPr>
          <a:xfrm>
            <a:off x="548640" y="5943600"/>
            <a:ext cx="11094415" cy="457200"/>
          </a:xfrm>
          <a:prstGeom prst="rect">
            <a:avLst/>
          </a:prstGeom>
          <a:noFill/>
        </p:spPr>
        <p:txBody>
          <a:bodyPr wrap="square" lIns="45720" rIns="45720" tIns="27432" bIns="27432" anchor="t">
            <a:spAutoFit/>
          </a:bodyPr>
          <a:lstStyle/>
          <a:p>
            <a:r>
              <a:rPr sz="1600" b="0" i="0">
                <a:solidFill>
                  <a:srgbClr val="6E6E6E"/>
                </a:solidFill>
                <a:latin typeface="Calibri"/>
              </a:rPr>
              <a:t>Frameworks &amp; Platform Stacks · github.com/deepseek-ai/DeepGEMM</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One MoE layer, four different matmuls</a:t>
            </a:r>
          </a:p>
        </p:txBody>
      </p:sp>
      <p:pic>
        <p:nvPicPr>
          <p:cNvPr id="3" name="Picture 2" descr="fig_ops.png"/>
          <p:cNvPicPr>
            <a:picLocks noChangeAspect="1"/>
          </p:cNvPicPr>
          <p:nvPr/>
        </p:nvPicPr>
        <p:blipFill>
          <a:blip r:embed="rId2"/>
          <a:stretch>
            <a:fillRect/>
          </a:stretch>
        </p:blipFill>
        <p:spPr>
          <a:xfrm>
            <a:off x="5873959" y="2073045"/>
            <a:ext cx="5769095" cy="3443429"/>
          </a:xfrm>
          <a:prstGeom prst="rect">
            <a:avLst/>
          </a:prstGeom>
        </p:spPr>
      </p:pic>
      <p:sp>
        <p:nvSpPr>
          <p:cNvPr id="4" name="TextBox 3"/>
          <p:cNvSpPr txBox="1"/>
          <p:nvPr/>
        </p:nvSpPr>
        <p:spPr>
          <a:xfrm>
            <a:off x="548640" y="1463040"/>
            <a:ext cx="4959559" cy="4663440"/>
          </a:xfrm>
          <a:prstGeom prst="rect">
            <a:avLst/>
          </a:prstGeom>
          <a:noFill/>
        </p:spPr>
        <p:txBody>
          <a:bodyPr wrap="square" lIns="45720" rIns="45720" tIns="27432" bIns="27432" anchor="t">
            <a:spAutoFit/>
          </a:bodyPr>
          <a:lstStyle/>
          <a:p>
            <a:pPr marL="320040" indent="-292608">
              <a:spcAft>
                <a:spcPts val="1080"/>
              </a:spcAft>
              <a:buChar char="•"/>
            </a:pPr>
            <a:r>
              <a:rPr sz="2400" b="0" i="0">
                <a:solidFill>
                  <a:srgbClr val="222222"/>
                </a:solidFill>
                <a:latin typeface="Calibri"/>
              </a:rPr>
              <a:t>DeepSeek-V4-Pro: </a:t>
            </a:r>
            <a:r>
              <a:rPr sz="2400" b="1" i="0">
                <a:solidFill>
                  <a:srgbClr val="222222"/>
                </a:solidFill>
                <a:latin typeface="Calibri"/>
              </a:rPr>
              <a:t>1.6T</a:t>
            </a:r>
            <a:r>
              <a:rPr sz="2400" b="0" i="0">
                <a:solidFill>
                  <a:srgbClr val="222222"/>
                </a:solidFill>
                <a:latin typeface="Calibri"/>
              </a:rPr>
              <a:t> parameters, 49B active, 1M context</a:t>
            </a:r>
          </a:p>
          <a:p>
            <a:pPr marL="320040" indent="-292608">
              <a:spcAft>
                <a:spcPts val="1080"/>
              </a:spcAft>
              <a:buChar char="•"/>
            </a:pPr>
            <a:r>
              <a:rPr sz="2400" b="0" i="0">
                <a:solidFill>
                  <a:srgbClr val="222222"/>
                </a:solidFill>
                <a:latin typeface="Calibri"/>
              </a:rPr>
              <a:t>Each op brings its own dtypes, scales and shapes</a:t>
            </a:r>
          </a:p>
        </p:txBody>
      </p:sp>
      <p:sp>
        <p:nvSpPr>
          <p:cNvPr id="5" name="TextBox 4"/>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Expert-tuned FP8 kernels left performance unclaimed</a:t>
            </a:r>
          </a:p>
        </p:txBody>
      </p:sp>
      <p:sp>
        <p:nvSpPr>
          <p:cNvPr id="3" name="TextBox 2"/>
          <p:cNvSpPr txBox="1"/>
          <p:nvPr/>
        </p:nvSpPr>
        <p:spPr>
          <a:xfrm>
            <a:off x="548640" y="2011680"/>
            <a:ext cx="11094415" cy="2011680"/>
          </a:xfrm>
          <a:prstGeom prst="rect">
            <a:avLst/>
          </a:prstGeom>
          <a:noFill/>
        </p:spPr>
        <p:txBody>
          <a:bodyPr wrap="square" lIns="45720" rIns="45720" tIns="27432" bIns="27432" anchor="ctr">
            <a:spAutoFit/>
          </a:bodyPr>
          <a:lstStyle/>
          <a:p>
            <a:pPr algn="ctr"/>
            <a:r>
              <a:rPr sz="9600" b="1" i="0">
                <a:solidFill>
                  <a:srgbClr val="C00000"/>
                </a:solidFill>
                <a:latin typeface="Calibri"/>
              </a:rPr>
              <a:t>2.7x</a:t>
            </a:r>
          </a:p>
        </p:txBody>
      </p:sp>
      <p:sp>
        <p:nvSpPr>
          <p:cNvPr id="4" name="TextBox 3"/>
          <p:cNvSpPr txBox="1"/>
          <p:nvPr/>
        </p:nvSpPr>
        <p:spPr>
          <a:xfrm>
            <a:off x="548640" y="4023360"/>
            <a:ext cx="11094415" cy="822960"/>
          </a:xfrm>
          <a:prstGeom prst="rect">
            <a:avLst/>
          </a:prstGeom>
          <a:noFill/>
        </p:spPr>
        <p:txBody>
          <a:bodyPr wrap="square" lIns="45720" rIns="45720" tIns="27432" bIns="27432" anchor="t">
            <a:spAutoFit/>
          </a:bodyPr>
          <a:lstStyle/>
          <a:p>
            <a:pPr algn="ctr"/>
            <a:r>
              <a:rPr sz="2600" b="0" i="0">
                <a:solidFill>
                  <a:srgbClr val="222222"/>
                </a:solidFill>
                <a:latin typeface="Calibri"/>
              </a:rPr>
              <a:t>DeepGEMM over an internally tuned CUTLASS 3.6 FP8 GEMM at the V3 decode shape M=64, N=2112, K=7168</a:t>
            </a:r>
          </a:p>
        </p:txBody>
      </p:sp>
      <p:sp>
        <p:nvSpPr>
          <p:cNvPr id="5" name="TextBox 4"/>
          <p:cNvSpPr txBox="1"/>
          <p:nvPr/>
        </p:nvSpPr>
        <p:spPr>
          <a:xfrm>
            <a:off x="548640" y="6080760"/>
            <a:ext cx="11094415" cy="320040"/>
          </a:xfrm>
          <a:prstGeom prst="rect">
            <a:avLst/>
          </a:prstGeom>
          <a:noFill/>
        </p:spPr>
        <p:txBody>
          <a:bodyPr wrap="square" lIns="45720" rIns="45720" tIns="27432" bIns="27432" anchor="t">
            <a:spAutoFit/>
          </a:bodyPr>
          <a:lstStyle/>
          <a:p>
            <a:r>
              <a:rPr sz="1400" b="0" i="1">
                <a:solidFill>
                  <a:srgbClr val="6E6E6E"/>
                </a:solidFill>
                <a:latin typeface="Calibri"/>
              </a:rPr>
              <a:t>DeepGEMM README @ commit 8002b769 (2025-03-25), H800 SXM5, NVCC 12.8</a:t>
            </a:r>
          </a:p>
        </p:txBody>
      </p:sp>
      <p:sp>
        <p:nvSpPr>
          <p:cNvPr id="6" name="TextBox 5"/>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A BLAS call cannot express an MoE step</a:t>
            </a:r>
          </a:p>
        </p:txBody>
      </p:sp>
      <p:pic>
        <p:nvPicPr>
          <p:cNvPr id="3" name="Picture 2" descr="fig_gap.png"/>
          <p:cNvPicPr>
            <a:picLocks noChangeAspect="1"/>
          </p:cNvPicPr>
          <p:nvPr/>
        </p:nvPicPr>
        <p:blipFill>
          <a:blip r:embed="rId2"/>
          <a:stretch>
            <a:fillRect/>
          </a:stretch>
        </p:blipFill>
        <p:spPr>
          <a:xfrm>
            <a:off x="548640" y="1532036"/>
            <a:ext cx="11094415" cy="3519607"/>
          </a:xfrm>
          <a:prstGeom prst="rect">
            <a:avLst/>
          </a:prstGeom>
        </p:spPr>
      </p:pic>
      <p:sp>
        <p:nvSpPr>
          <p:cNvPr id="4" name="Rounded Rectangle 3"/>
          <p:cNvSpPr/>
          <p:nvPr/>
        </p:nvSpPr>
        <p:spPr>
          <a:xfrm>
            <a:off x="548640" y="5212079"/>
            <a:ext cx="11094415" cy="1188720"/>
          </a:xfrm>
          <a:prstGeom prst="roundRect">
            <a:avLst>
              <a:gd name="adj" fmla="val 12000"/>
            </a:avLst>
          </a:prstGeom>
          <a:solidFill>
            <a:srgbClr val="EAF1F8"/>
          </a:solidFill>
          <a:ln w="25400">
            <a:solidFill>
              <a:srgbClr val="1F4E79"/>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2200" b="1" i="0">
                <a:solidFill>
                  <a:srgbClr val="222222"/>
                </a:solidFill>
                <a:latin typeface="Calibri"/>
              </a:rPr>
              <a:t>Per-group scaling along K is "not directly supported" by a standard FP8 GEMM (DeepSeek-V3 §3.3.2)</a:t>
            </a:r>
          </a:p>
        </p:txBody>
      </p:sp>
      <p:sp>
        <p:nvSpPr>
          <p:cNvPr id="5" name="TextBox 4"/>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Insight: these kernels differ in scheduling, not arithmetic</a:t>
            </a:r>
          </a:p>
        </p:txBody>
      </p:sp>
      <p:sp>
        <p:nvSpPr>
          <p:cNvPr id="3" name="TextBox 2"/>
          <p:cNvSpPr txBox="1"/>
          <p:nvPr/>
        </p:nvSpPr>
        <p:spPr>
          <a:xfrm>
            <a:off x="548640" y="1463040"/>
            <a:ext cx="11094415" cy="4663440"/>
          </a:xfrm>
          <a:prstGeom prst="rect">
            <a:avLst/>
          </a:prstGeom>
          <a:noFill/>
        </p:spPr>
        <p:txBody>
          <a:bodyPr wrap="square" lIns="45720" rIns="45720" tIns="27432" bIns="27432" anchor="t">
            <a:spAutoFit/>
          </a:bodyPr>
          <a:lstStyle/>
          <a:p>
            <a:pPr marL="320040" indent="-292608">
              <a:spcAft>
                <a:spcPts val="1080"/>
              </a:spcAft>
              <a:buChar char="•"/>
            </a:pPr>
            <a:r>
              <a:rPr sz="2400" b="0" i="0">
                <a:solidFill>
                  <a:srgbClr val="222222"/>
                </a:solidFill>
                <a:latin typeface="Calibri"/>
              </a:rPr>
              <a:t>Same inner loop: TMA load, tensor-core MMA, scaled accumulate, store</a:t>
            </a:r>
          </a:p>
          <a:p>
            <a:pPr marL="320040" indent="-292608">
              <a:spcAft>
                <a:spcPts val="1080"/>
              </a:spcAft>
              <a:buChar char="•"/>
            </a:pPr>
            <a:r>
              <a:rPr sz="2400" b="0" i="0">
                <a:solidFill>
                  <a:srgbClr val="222222"/>
                </a:solidFill>
                <a:latin typeface="Calibri"/>
              </a:rPr>
              <a:t>What differs: tile scheduling, scale layout, what surrounds the GEMM</a:t>
            </a:r>
          </a:p>
        </p:txBody>
      </p:sp>
      <p:sp>
        <p:nvSpPr>
          <p:cNvPr id="4" name="TextBox 3"/>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Insight: these kernels differ in scheduling, not arithmetic</a:t>
            </a:r>
          </a:p>
        </p:txBody>
      </p:sp>
      <p:sp>
        <p:nvSpPr>
          <p:cNvPr id="3" name="TextBox 2"/>
          <p:cNvSpPr txBox="1"/>
          <p:nvPr/>
        </p:nvSpPr>
        <p:spPr>
          <a:xfrm>
            <a:off x="548640" y="1463040"/>
            <a:ext cx="11094415" cy="3703320"/>
          </a:xfrm>
          <a:prstGeom prst="rect">
            <a:avLst/>
          </a:prstGeom>
          <a:noFill/>
        </p:spPr>
        <p:txBody>
          <a:bodyPr wrap="square" lIns="45720" rIns="45720" tIns="27432" bIns="27432" anchor="t">
            <a:spAutoFit/>
          </a:bodyPr>
          <a:lstStyle/>
          <a:p>
            <a:pPr marL="320040" indent="-292608">
              <a:spcAft>
                <a:spcPts val="1080"/>
              </a:spcAft>
              <a:buChar char="•"/>
            </a:pPr>
            <a:r>
              <a:rPr sz="2400" b="0" i="0">
                <a:solidFill>
                  <a:srgbClr val="222222"/>
                </a:solidFill>
                <a:latin typeface="Calibri"/>
              </a:rPr>
              <a:t>Same inner loop: TMA load, tensor-core MMA, scaled accumulate, store</a:t>
            </a:r>
          </a:p>
          <a:p>
            <a:pPr marL="320040" indent="-292608">
              <a:spcAft>
                <a:spcPts val="1080"/>
              </a:spcAft>
              <a:buChar char="•"/>
            </a:pPr>
            <a:r>
              <a:rPr sz="2400" b="0" i="0">
                <a:solidFill>
                  <a:srgbClr val="222222"/>
                </a:solidFill>
                <a:latin typeface="Calibri"/>
              </a:rPr>
              <a:t>What differs: tile scheduling, scale layout, what surrounds the GEMM</a:t>
            </a:r>
          </a:p>
        </p:txBody>
      </p:sp>
      <p:sp>
        <p:nvSpPr>
          <p:cNvPr id="4" name="Rounded Rectangle 3"/>
          <p:cNvSpPr/>
          <p:nvPr/>
        </p:nvSpPr>
        <p:spPr>
          <a:xfrm>
            <a:off x="548640" y="5257800"/>
            <a:ext cx="11094415" cy="1188720"/>
          </a:xfrm>
          <a:prstGeom prst="roundRect">
            <a:avLst>
              <a:gd name="adj" fmla="val 12000"/>
            </a:avLst>
          </a:prstGeom>
          <a:solidFill>
            <a:srgbClr val="EAF1F8"/>
          </a:solidFill>
          <a:ln w="25400">
            <a:solidFill>
              <a:srgbClr val="1F4E79"/>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2200" b="1" i="0">
                <a:solidFill>
                  <a:srgbClr val="222222"/>
                </a:solidFill>
                <a:latin typeface="Calibri"/>
              </a:rPr>
              <a:t>Write one kernel per family, share scheduler and layouts, and let a runtime JIT burn every shape and switch into it as a constant</a:t>
            </a:r>
          </a:p>
        </p:txBody>
      </p:sp>
      <p:sp>
        <p:nvSpPr>
          <p:cNvPr id="5" name="TextBox 4"/>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DeepGEMM: five kernel families on one runtime</a:t>
            </a:r>
          </a:p>
        </p:txBody>
      </p:sp>
      <p:pic>
        <p:nvPicPr>
          <p:cNvPr id="3" name="Picture 2" descr="fig_stack.png"/>
          <p:cNvPicPr>
            <a:picLocks noChangeAspect="1"/>
          </p:cNvPicPr>
          <p:nvPr/>
        </p:nvPicPr>
        <p:blipFill>
          <a:blip r:embed="rId2"/>
          <a:stretch>
            <a:fillRect/>
          </a:stretch>
        </p:blipFill>
        <p:spPr>
          <a:xfrm>
            <a:off x="665227" y="1463040"/>
            <a:ext cx="10861239" cy="4297679"/>
          </a:xfrm>
          <a:prstGeom prst="rect">
            <a:avLst/>
          </a:prstGeom>
        </p:spPr>
      </p:pic>
      <p:sp>
        <p:nvSpPr>
          <p:cNvPr id="4" name="TextBox 3"/>
          <p:cNvSpPr txBox="1"/>
          <p:nvPr/>
        </p:nvSpPr>
        <p:spPr>
          <a:xfrm>
            <a:off x="548640" y="5760719"/>
            <a:ext cx="11094415" cy="365760"/>
          </a:xfrm>
          <a:prstGeom prst="rect">
            <a:avLst/>
          </a:prstGeom>
          <a:noFill/>
        </p:spPr>
        <p:txBody>
          <a:bodyPr wrap="square" lIns="45720" rIns="45720" tIns="27432" bIns="27432" anchor="t">
            <a:spAutoFit/>
          </a:bodyPr>
          <a:lstStyle/>
          <a:p>
            <a:pPr algn="ctr"/>
            <a:r>
              <a:rPr sz="1400" b="0" i="1">
                <a:solidFill>
                  <a:srgbClr val="6E6E6E"/>
                </a:solidFill>
                <a:latin typeface="Calibri"/>
              </a:rPr>
              <a:t>19 kernel files, 9,593 lines of device code (derived from the repo); each family has its own deck</a:t>
            </a:r>
          </a:p>
        </p:txBody>
      </p:sp>
      <p:sp>
        <p:nvSpPr>
          <p:cNvPr id="5" name="TextBox 4"/>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One GEMM family covers FP8, FP4 and BF16</a:t>
            </a:r>
          </a:p>
        </p:txBody>
      </p:sp>
      <p:sp>
        <p:nvSpPr>
          <p:cNvPr id="3" name="TextBox 2"/>
          <p:cNvSpPr txBox="1"/>
          <p:nvPr/>
        </p:nvSpPr>
        <p:spPr>
          <a:xfrm>
            <a:off x="548640" y="1463040"/>
            <a:ext cx="11094415" cy="3703320"/>
          </a:xfrm>
          <a:prstGeom prst="rect">
            <a:avLst/>
          </a:prstGeom>
          <a:noFill/>
        </p:spPr>
        <p:txBody>
          <a:bodyPr wrap="square" lIns="45720" rIns="45720" tIns="27432" bIns="27432" anchor="t">
            <a:spAutoFit/>
          </a:bodyPr>
          <a:lstStyle/>
          <a:p>
            <a:pPr marL="320040" indent="-292608">
              <a:spcAft>
                <a:spcPts val="1080"/>
              </a:spcAft>
              <a:buChar char="•"/>
            </a:pPr>
            <a:r>
              <a:rPr sz="2200" b="0" i="0">
                <a:solidFill>
                  <a:srgbClr val="222222"/>
                </a:solidFill>
                <a:latin typeface="Menlo"/>
              </a:rPr>
              <a:t>fp8_gemm_{nt,nn,tn,tt}</a:t>
            </a:r>
            <a:r>
              <a:rPr sz="2400" b="0" i="0">
                <a:solidFill>
                  <a:srgbClr val="222222"/>
                </a:solidFill>
                <a:latin typeface="Calibri"/>
              </a:rPr>
              <a:t>: SM90 is NT-only, SM100 takes all four majors</a:t>
            </a:r>
          </a:p>
          <a:p>
            <a:pPr marL="320040" indent="-292608">
              <a:spcAft>
                <a:spcPts val="1080"/>
              </a:spcAft>
              <a:buChar char="•"/>
            </a:pPr>
            <a:r>
              <a:rPr sz="2400" b="0" i="0">
                <a:solidFill>
                  <a:srgbClr val="222222"/>
                </a:solidFill>
                <a:latin typeface="Calibri"/>
              </a:rPr>
              <a:t>Scales: FP32 on SM90, </a:t>
            </a:r>
            <a:r>
              <a:rPr sz="2400" b="1" i="0">
                <a:solidFill>
                  <a:srgbClr val="222222"/>
                </a:solidFill>
                <a:latin typeface="Calibri"/>
              </a:rPr>
              <a:t>4 packed UE8M0</a:t>
            </a:r>
            <a:r>
              <a:rPr sz="2400" b="0" i="0">
                <a:solidFill>
                  <a:srgbClr val="222222"/>
                </a:solidFill>
                <a:latin typeface="Calibri"/>
              </a:rPr>
              <a:t> per int32 on SM100, TMA-aligned</a:t>
            </a:r>
          </a:p>
          <a:p>
            <a:pPr marL="320040" indent="-292608">
              <a:spcAft>
                <a:spcPts val="1080"/>
              </a:spcAft>
              <a:buChar char="•"/>
            </a:pPr>
            <a:r>
              <a:rPr sz="2400" b="0" i="0">
                <a:solidFill>
                  <a:srgbClr val="222222"/>
                </a:solidFill>
                <a:latin typeface="Calibri"/>
              </a:rPr>
              <a:t>FP8 activations x FP4 weights share the same kernel</a:t>
            </a:r>
          </a:p>
        </p:txBody>
      </p:sp>
      <p:sp>
        <p:nvSpPr>
          <p:cNvPr id="4" name="Rounded Rectangle 3"/>
          <p:cNvSpPr/>
          <p:nvPr/>
        </p:nvSpPr>
        <p:spPr>
          <a:xfrm>
            <a:off x="548640" y="5257800"/>
            <a:ext cx="11094415" cy="1188720"/>
          </a:xfrm>
          <a:prstGeom prst="roundRect">
            <a:avLst>
              <a:gd name="adj" fmla="val 12000"/>
            </a:avLst>
          </a:prstGeom>
          <a:solidFill>
            <a:srgbClr val="EAF1F8"/>
          </a:solidFill>
          <a:ln w="25400">
            <a:solidFill>
              <a:srgbClr val="1F4E79"/>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2200" b="1" i="0">
                <a:solidFill>
                  <a:srgbClr val="222222"/>
                </a:solidFill>
                <a:latin typeface="Calibri"/>
              </a:rPr>
              <a:t>Deep dive: deck 30 (dense GEMM + UE8M0 layout), deck 39 (DeepJIT, PDL, determinism)</a:t>
            </a:r>
          </a:p>
        </p:txBody>
      </p:sp>
      <p:sp>
        <p:nvSpPr>
          <p:cNvPr id="5" name="TextBox 4"/>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Grouped layouts carry per-expert token counts</a:t>
            </a:r>
          </a:p>
        </p:txBody>
      </p:sp>
      <p:sp>
        <p:nvSpPr>
          <p:cNvPr id="3" name="TextBox 2"/>
          <p:cNvSpPr txBox="1"/>
          <p:nvPr/>
        </p:nvSpPr>
        <p:spPr>
          <a:xfrm>
            <a:off x="548640" y="1463040"/>
            <a:ext cx="11094415" cy="3703320"/>
          </a:xfrm>
          <a:prstGeom prst="rect">
            <a:avLst/>
          </a:prstGeom>
          <a:noFill/>
        </p:spPr>
        <p:txBody>
          <a:bodyPr wrap="square" lIns="45720" rIns="45720" tIns="27432" bIns="27432" anchor="t">
            <a:spAutoFit/>
          </a:bodyPr>
          <a:lstStyle/>
          <a:p>
            <a:pPr marL="320040" indent="-292608">
              <a:spcAft>
                <a:spcPts val="1080"/>
              </a:spcAft>
              <a:buChar char="•"/>
            </a:pPr>
            <a:r>
              <a:rPr sz="2400" b="1" i="0">
                <a:solidFill>
                  <a:srgbClr val="222222"/>
                </a:solidFill>
                <a:latin typeface="Calibri"/>
              </a:rPr>
              <a:t>M-grouped contiguous</a:t>
            </a:r>
            <a:r>
              <a:rPr sz="2400" b="0" i="0">
                <a:solidFill>
                  <a:srgbClr val="222222"/>
                </a:solidFill>
                <a:latin typeface="Calibri"/>
              </a:rPr>
              <a:t>: experts concatenated, each segment aligned to the M block</a:t>
            </a:r>
          </a:p>
          <a:p>
            <a:pPr marL="320040" indent="-292608">
              <a:spcAft>
                <a:spcPts val="1080"/>
              </a:spcAft>
              <a:buChar char="•"/>
            </a:pPr>
            <a:r>
              <a:rPr sz="2400" b="1" i="0">
                <a:solidFill>
                  <a:srgbClr val="222222"/>
                </a:solidFill>
                <a:latin typeface="Calibri"/>
              </a:rPr>
              <a:t>Masked</a:t>
            </a:r>
            <a:r>
              <a:rPr sz="2400" b="0" i="0">
                <a:solidFill>
                  <a:srgbClr val="222222"/>
                </a:solidFill>
                <a:latin typeface="Calibri"/>
              </a:rPr>
              <a:t>: fixed slots plus a mask, so CUDA Graph decode needs no host count</a:t>
            </a:r>
          </a:p>
          <a:p>
            <a:pPr marL="320040" indent="-292608">
              <a:spcAft>
                <a:spcPts val="1080"/>
              </a:spcAft>
              <a:buChar char="•"/>
            </a:pPr>
            <a:r>
              <a:rPr sz="2400" b="1" i="0">
                <a:solidFill>
                  <a:srgbClr val="222222"/>
                </a:solidFill>
                <a:latin typeface="Calibri"/>
              </a:rPr>
              <a:t>K-grouped</a:t>
            </a:r>
            <a:r>
              <a:rPr sz="2400" b="0" i="0">
                <a:solidFill>
                  <a:srgbClr val="222222"/>
                </a:solidFill>
                <a:latin typeface="Calibri"/>
              </a:rPr>
              <a:t>: the MoE weight-gradient shape, groups along K</a:t>
            </a:r>
          </a:p>
        </p:txBody>
      </p:sp>
      <p:sp>
        <p:nvSpPr>
          <p:cNvPr id="4" name="Rounded Rectangle 3"/>
          <p:cNvSpPr/>
          <p:nvPr/>
        </p:nvSpPr>
        <p:spPr>
          <a:xfrm>
            <a:off x="548640" y="5257800"/>
            <a:ext cx="11094415" cy="822960"/>
          </a:xfrm>
          <a:prstGeom prst="roundRect">
            <a:avLst>
              <a:gd name="adj" fmla="val 12000"/>
            </a:avLst>
          </a:prstGeom>
          <a:solidFill>
            <a:srgbClr val="EAF1F8"/>
          </a:solidFill>
          <a:ln w="25400">
            <a:solidFill>
              <a:srgbClr val="1F4E79"/>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2200" b="1" i="0">
                <a:solidFill>
                  <a:srgbClr val="222222"/>
                </a:solidFill>
                <a:latin typeface="Calibri"/>
              </a:rPr>
              <a:t>Deep dive: decks 33 (contiguous), 34 (masked), 32 (K-axis)</a:t>
            </a:r>
          </a:p>
        </p:txBody>
      </p:sp>
      <p:sp>
        <p:nvSpPr>
          <p:cNvPr id="5" name="TextBox 4"/>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Mega kernels swallow what surrounds the GEMM</a:t>
            </a:r>
          </a:p>
        </p:txBody>
      </p:sp>
      <p:pic>
        <p:nvPicPr>
          <p:cNvPr id="3" name="Picture 2" descr="fig_megamoe.png"/>
          <p:cNvPicPr>
            <a:picLocks noChangeAspect="1"/>
          </p:cNvPicPr>
          <p:nvPr/>
        </p:nvPicPr>
        <p:blipFill>
          <a:blip r:embed="rId2"/>
          <a:stretch>
            <a:fillRect/>
          </a:stretch>
        </p:blipFill>
        <p:spPr>
          <a:xfrm>
            <a:off x="548640" y="1660793"/>
            <a:ext cx="11094415" cy="3902173"/>
          </a:xfrm>
          <a:prstGeom prst="rect">
            <a:avLst/>
          </a:prstGeom>
        </p:spPr>
      </p:pic>
      <p:sp>
        <p:nvSpPr>
          <p:cNvPr id="4" name="TextBox 3"/>
          <p:cNvSpPr txBox="1"/>
          <p:nvPr/>
        </p:nvSpPr>
        <p:spPr>
          <a:xfrm>
            <a:off x="548640" y="5760719"/>
            <a:ext cx="11094415" cy="365760"/>
          </a:xfrm>
          <a:prstGeom prst="rect">
            <a:avLst/>
          </a:prstGeom>
          <a:noFill/>
        </p:spPr>
        <p:txBody>
          <a:bodyPr wrap="square" lIns="45720" rIns="45720" tIns="27432" bIns="27432" anchor="t">
            <a:spAutoFit/>
          </a:bodyPr>
          <a:lstStyle/>
          <a:p>
            <a:pPr algn="ctr"/>
            <a:r>
              <a:rPr sz="1400" b="0" i="1">
                <a:solidFill>
                  <a:srgbClr val="6E6E6E"/>
                </a:solidFill>
                <a:latin typeface="Calibri"/>
              </a:rPr>
              <a:t>Mega Gate does the same for routing, Mega mHC for hyper-connections + RMSNorm</a:t>
            </a:r>
          </a:p>
        </p:txBody>
      </p:sp>
      <p:sp>
        <p:nvSpPr>
          <p:cNvPr id="5" name="TextBox 4"/>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Dense FP8 reaches 1426 TFLOPS on H800</a:t>
            </a:r>
          </a:p>
        </p:txBody>
      </p:sp>
      <p:pic>
        <p:nvPicPr>
          <p:cNvPr id="3" name="Picture 2" descr="chart_dense.png"/>
          <p:cNvPicPr>
            <a:picLocks noChangeAspect="1"/>
          </p:cNvPicPr>
          <p:nvPr/>
        </p:nvPicPr>
        <p:blipFill>
          <a:blip r:embed="rId2"/>
          <a:stretch>
            <a:fillRect/>
          </a:stretch>
        </p:blipFill>
        <p:spPr>
          <a:xfrm>
            <a:off x="5430182" y="1814114"/>
            <a:ext cx="6212872" cy="3961290"/>
          </a:xfrm>
          <a:prstGeom prst="rect">
            <a:avLst/>
          </a:prstGeom>
        </p:spPr>
      </p:pic>
      <p:sp>
        <p:nvSpPr>
          <p:cNvPr id="4" name="TextBox 3"/>
          <p:cNvSpPr txBox="1"/>
          <p:nvPr/>
        </p:nvSpPr>
        <p:spPr>
          <a:xfrm>
            <a:off x="548640" y="1463040"/>
            <a:ext cx="4515782" cy="4663440"/>
          </a:xfrm>
          <a:prstGeom prst="rect">
            <a:avLst/>
          </a:prstGeom>
          <a:noFill/>
        </p:spPr>
        <p:txBody>
          <a:bodyPr wrap="square" lIns="45720" rIns="45720" tIns="27432" bIns="27432" anchor="t">
            <a:spAutoFit/>
          </a:bodyPr>
          <a:lstStyle/>
          <a:p>
            <a:pPr marL="320040" indent="-292608">
              <a:spcAft>
                <a:spcPts val="1080"/>
              </a:spcAft>
              <a:buChar char="•"/>
            </a:pPr>
            <a:r>
              <a:rPr sz="2400" b="1" i="0">
                <a:solidFill>
                  <a:srgbClr val="222222"/>
                </a:solidFill>
                <a:latin typeface="Calibri"/>
              </a:rPr>
              <a:t>1.3-1.4x</a:t>
            </a:r>
            <a:r>
              <a:rPr sz="2400" b="0" i="0">
                <a:solidFill>
                  <a:srgbClr val="222222"/>
                </a:solidFill>
                <a:latin typeface="Calibri"/>
              </a:rPr>
              <a:t> over the tuned CUTLASS 3.6 implementation</a:t>
            </a:r>
          </a:p>
          <a:p>
            <a:pPr marL="320040" indent="-292608">
              <a:spcAft>
                <a:spcPts val="1080"/>
              </a:spcAft>
              <a:buChar char="•"/>
            </a:pPr>
            <a:r>
              <a:rPr sz="2400" b="0" i="0">
                <a:solidFill>
                  <a:srgbClr val="222222"/>
                </a:solidFill>
                <a:latin typeface="Calibri"/>
              </a:rPr>
              <a:t>N=7168, K=16384; peak over all shapes: </a:t>
            </a:r>
            <a:r>
              <a:rPr sz="2400" b="1" i="0">
                <a:solidFill>
                  <a:srgbClr val="222222"/>
                </a:solidFill>
                <a:latin typeface="Calibri"/>
              </a:rPr>
              <a:t>1550 TFLOPS</a:t>
            </a:r>
          </a:p>
          <a:p>
            <a:pPr marL="320040" indent="-292608">
              <a:spcAft>
                <a:spcPts val="1080"/>
              </a:spcAft>
              <a:buChar char="•"/>
            </a:pPr>
            <a:r>
              <a:rPr sz="2400" b="0" i="0">
                <a:solidFill>
                  <a:srgbClr val="222222"/>
                </a:solidFill>
                <a:latin typeface="Calibri"/>
              </a:rPr>
              <a:t>Same kernel from decode M=64 to prefill M=4096</a:t>
            </a:r>
          </a:p>
        </p:txBody>
      </p:sp>
      <p:sp>
        <p:nvSpPr>
          <p:cNvPr id="5" name="TextBox 4"/>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Mega MoE runs 1.50-1.96x the non-fused pipeline</a:t>
            </a:r>
          </a:p>
        </p:txBody>
      </p:sp>
      <p:pic>
        <p:nvPicPr>
          <p:cNvPr id="3" name="Picture 2" descr="chart_mega_moe.png"/>
          <p:cNvPicPr>
            <a:picLocks noChangeAspect="1"/>
          </p:cNvPicPr>
          <p:nvPr/>
        </p:nvPicPr>
        <p:blipFill>
          <a:blip r:embed="rId2"/>
          <a:stretch>
            <a:fillRect/>
          </a:stretch>
        </p:blipFill>
        <p:spPr>
          <a:xfrm>
            <a:off x="5430182" y="1566178"/>
            <a:ext cx="6212872" cy="4457162"/>
          </a:xfrm>
          <a:prstGeom prst="rect">
            <a:avLst/>
          </a:prstGeom>
        </p:spPr>
      </p:pic>
      <p:sp>
        <p:nvSpPr>
          <p:cNvPr id="4" name="TextBox 3"/>
          <p:cNvSpPr txBox="1"/>
          <p:nvPr/>
        </p:nvSpPr>
        <p:spPr>
          <a:xfrm>
            <a:off x="548640" y="1463040"/>
            <a:ext cx="4515782" cy="4663440"/>
          </a:xfrm>
          <a:prstGeom prst="rect">
            <a:avLst/>
          </a:prstGeom>
          <a:noFill/>
        </p:spPr>
        <p:txBody>
          <a:bodyPr wrap="square" lIns="45720" rIns="45720" tIns="27432" bIns="27432" anchor="t">
            <a:spAutoFit/>
          </a:bodyPr>
          <a:lstStyle/>
          <a:p>
            <a:pPr marL="320040" indent="-292608">
              <a:spcAft>
                <a:spcPts val="1080"/>
              </a:spcAft>
              <a:buChar char="•"/>
            </a:pPr>
            <a:r>
              <a:rPr sz="2400" b="0" i="0">
                <a:solidFill>
                  <a:srgbClr val="222222"/>
                </a:solidFill>
                <a:latin typeface="Calibri"/>
              </a:rPr>
              <a:t>8-way expert parallelism, averaged over 8 ranks</a:t>
            </a:r>
          </a:p>
          <a:p>
            <a:pPr marL="320040" indent="-292608">
              <a:spcAft>
                <a:spcPts val="1080"/>
              </a:spcAft>
              <a:buChar char="•"/>
            </a:pPr>
            <a:r>
              <a:rPr sz="2400" b="0" i="0">
                <a:solidFill>
                  <a:srgbClr val="222222"/>
                </a:solidFill>
                <a:latin typeface="Calibri"/>
              </a:rPr>
              <a:t>Largest win at </a:t>
            </a:r>
            <a:r>
              <a:rPr sz="2400" b="1" i="0">
                <a:solidFill>
                  <a:srgbClr val="222222"/>
                </a:solidFill>
                <a:latin typeface="Calibri"/>
              </a:rPr>
              <a:t>1 token/rank</a:t>
            </a:r>
            <a:r>
              <a:rPr sz="2400" b="0" i="0">
                <a:solidFill>
                  <a:srgbClr val="222222"/>
                </a:solidFill>
                <a:latin typeface="Calibri"/>
              </a:rPr>
              <a:t>: RL rollout and agent serving</a:t>
            </a:r>
          </a:p>
        </p:txBody>
      </p:sp>
      <p:sp>
        <p:nvSpPr>
          <p:cNvPr id="5" name="TextBox 4"/>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Fusing the ops around the GEMM pays again</a:t>
            </a:r>
          </a:p>
        </p:txBody>
      </p:sp>
      <p:pic>
        <p:nvPicPr>
          <p:cNvPr id="3" name="Picture 2" descr="chart_fusion.png"/>
          <p:cNvPicPr>
            <a:picLocks noChangeAspect="1"/>
          </p:cNvPicPr>
          <p:nvPr/>
        </p:nvPicPr>
        <p:blipFill>
          <a:blip r:embed="rId2"/>
          <a:stretch>
            <a:fillRect/>
          </a:stretch>
        </p:blipFill>
        <p:spPr>
          <a:xfrm>
            <a:off x="5430182" y="2011319"/>
            <a:ext cx="6212872" cy="3566880"/>
          </a:xfrm>
          <a:prstGeom prst="rect">
            <a:avLst/>
          </a:prstGeom>
        </p:spPr>
      </p:pic>
      <p:sp>
        <p:nvSpPr>
          <p:cNvPr id="4" name="TextBox 3"/>
          <p:cNvSpPr txBox="1"/>
          <p:nvPr/>
        </p:nvSpPr>
        <p:spPr>
          <a:xfrm>
            <a:off x="548640" y="1463040"/>
            <a:ext cx="4515782" cy="4663440"/>
          </a:xfrm>
          <a:prstGeom prst="rect">
            <a:avLst/>
          </a:prstGeom>
          <a:noFill/>
        </p:spPr>
        <p:txBody>
          <a:bodyPr wrap="square" lIns="45720" rIns="45720" tIns="27432" bIns="27432" anchor="t">
            <a:spAutoFit/>
          </a:bodyPr>
          <a:lstStyle/>
          <a:p>
            <a:pPr marL="320040" indent="-292608">
              <a:spcAft>
                <a:spcPts val="1080"/>
              </a:spcAft>
              <a:buChar char="•"/>
            </a:pPr>
            <a:r>
              <a:rPr sz="2400" b="1" i="0">
                <a:solidFill>
                  <a:srgbClr val="222222"/>
                </a:solidFill>
                <a:latin typeface="Calibri"/>
              </a:rPr>
              <a:t>Mega Gate</a:t>
            </a:r>
            <a:r>
              <a:rPr sz="2400" b="0" i="0">
                <a:solidFill>
                  <a:srgbClr val="222222"/>
                </a:solidFill>
                <a:latin typeface="Calibri"/>
              </a:rPr>
              <a:t>: routing GEMM plus the routing ops</a:t>
            </a:r>
          </a:p>
          <a:p>
            <a:pPr marL="320040" indent="-292608">
              <a:spcAft>
                <a:spcPts val="1080"/>
              </a:spcAft>
              <a:buChar char="•"/>
            </a:pPr>
            <a:r>
              <a:rPr sz="2400" b="1" i="0">
                <a:solidFill>
                  <a:srgbClr val="222222"/>
                </a:solidFill>
                <a:latin typeface="Calibri"/>
              </a:rPr>
              <a:t>Mega mHC</a:t>
            </a:r>
            <a:r>
              <a:rPr sz="2400" b="0" i="0">
                <a:solidFill>
                  <a:srgbClr val="222222"/>
                </a:solidFill>
                <a:latin typeface="Calibri"/>
              </a:rPr>
              <a:t>: hyper-connections plus RMSNorm</a:t>
            </a:r>
          </a:p>
        </p:txBody>
      </p:sp>
      <p:sp>
        <p:nvSpPr>
          <p:cNvPr id="5" name="TextBox 4"/>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The library is where DeepSeek-class models land</a:t>
            </a:r>
          </a:p>
        </p:txBody>
      </p:sp>
      <p:sp>
        <p:nvSpPr>
          <p:cNvPr id="3" name="TextBox 2"/>
          <p:cNvSpPr txBox="1"/>
          <p:nvPr/>
        </p:nvSpPr>
        <p:spPr>
          <a:xfrm>
            <a:off x="548640" y="1463040"/>
            <a:ext cx="11094415" cy="3703320"/>
          </a:xfrm>
          <a:prstGeom prst="rect">
            <a:avLst/>
          </a:prstGeom>
          <a:noFill/>
        </p:spPr>
        <p:txBody>
          <a:bodyPr wrap="square" lIns="45720" rIns="45720" tIns="27432" bIns="27432" anchor="t">
            <a:spAutoFit/>
          </a:bodyPr>
          <a:lstStyle/>
          <a:p>
            <a:pPr marL="320040" indent="-292608">
              <a:spcAft>
                <a:spcPts val="1080"/>
              </a:spcAft>
              <a:buChar char="•"/>
            </a:pPr>
            <a:r>
              <a:rPr sz="2400" b="0" i="0">
                <a:solidFill>
                  <a:srgbClr val="222222"/>
                </a:solidFill>
                <a:latin typeface="Calibri"/>
              </a:rPr>
              <a:t>SGLang and vLLM ship DeepGEMM paths and warm-up passes</a:t>
            </a:r>
          </a:p>
          <a:p>
            <a:pPr marL="320040" indent="-292608">
              <a:spcAft>
                <a:spcPts val="1080"/>
              </a:spcAft>
              <a:buChar char="•"/>
            </a:pPr>
            <a:r>
              <a:rPr sz="2400" b="0" i="0">
                <a:solidFill>
                  <a:srgbClr val="222222"/>
                </a:solidFill>
                <a:latin typeface="Calibri"/>
              </a:rPr>
              <a:t>8.9k stars; an Ascend port now lives in its own repo</a:t>
            </a:r>
          </a:p>
        </p:txBody>
      </p:sp>
      <p:sp>
        <p:nvSpPr>
          <p:cNvPr id="4" name="Rounded Rectangle 3"/>
          <p:cNvSpPr/>
          <p:nvPr/>
        </p:nvSpPr>
        <p:spPr>
          <a:xfrm>
            <a:off x="548640" y="5257800"/>
            <a:ext cx="11094415" cy="1188720"/>
          </a:xfrm>
          <a:prstGeom prst="roundRect">
            <a:avLst>
              <a:gd name="adj" fmla="val 12000"/>
            </a:avLst>
          </a:prstGeom>
          <a:solidFill>
            <a:srgbClr val="EAF1F8"/>
          </a:solidFill>
          <a:ln w="25400">
            <a:solidFill>
              <a:srgbClr val="1F4E79"/>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2200" b="1" i="0">
                <a:solidFill>
                  <a:srgbClr val="222222"/>
                </a:solidFill>
                <a:latin typeface="Calibri"/>
              </a:rPr>
              <a:t>DeepSeek-V4 replaced cuBLAS end-to-end: a BLAS library cannot be batch-invariant (V4 §3.3)</a:t>
            </a:r>
          </a:p>
        </p:txBody>
      </p:sp>
      <p:sp>
        <p:nvSpPr>
          <p:cNvPr id="5" name="TextBox 4"/>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What it costs you</a:t>
            </a:r>
          </a:p>
        </p:txBody>
      </p:sp>
      <p:sp>
        <p:nvSpPr>
          <p:cNvPr id="3" name="TextBox 2"/>
          <p:cNvSpPr txBox="1"/>
          <p:nvPr/>
        </p:nvSpPr>
        <p:spPr>
          <a:xfrm>
            <a:off x="548640" y="1463040"/>
            <a:ext cx="11094415" cy="4663440"/>
          </a:xfrm>
          <a:prstGeom prst="rect">
            <a:avLst/>
          </a:prstGeom>
          <a:noFill/>
        </p:spPr>
        <p:txBody>
          <a:bodyPr wrap="square" lIns="45720" rIns="45720" tIns="27432" bIns="27432" anchor="t">
            <a:spAutoFit/>
          </a:bodyPr>
          <a:lstStyle/>
          <a:p>
            <a:pPr marL="320040" indent="-292608">
              <a:spcAft>
                <a:spcPts val="1080"/>
              </a:spcAft>
              <a:buChar char="•"/>
            </a:pPr>
            <a:r>
              <a:rPr sz="2400" b="0" i="0">
                <a:solidFill>
                  <a:srgbClr val="222222"/>
                </a:solidFill>
                <a:latin typeface="Calibri"/>
              </a:rPr>
              <a:t>SM90 or SM100 only, CUDA 12.9+, CUTLASS 4.0+; Ascend is a separate port</a:t>
            </a:r>
          </a:p>
          <a:p>
            <a:pPr marL="320040" indent="-292608">
              <a:spcAft>
                <a:spcPts val="1080"/>
              </a:spcAft>
              <a:buChar char="•"/>
            </a:pPr>
            <a:r>
              <a:rPr sz="2400" b="0" i="0">
                <a:solidFill>
                  <a:srgbClr val="222222"/>
                </a:solidFill>
                <a:latin typeface="Calibri"/>
              </a:rPr>
              <a:t>Casting, transposition and scale production stay the caller's job</a:t>
            </a:r>
          </a:p>
          <a:p>
            <a:pPr marL="320040" indent="-292608">
              <a:spcAft>
                <a:spcPts val="1080"/>
              </a:spcAft>
              <a:buChar char="•"/>
            </a:pPr>
            <a:r>
              <a:rPr sz="2400" b="0" i="0">
                <a:solidFill>
                  <a:srgbClr val="222222"/>
                </a:solidFill>
                <a:latin typeface="Calibri"/>
              </a:rPr>
              <a:t>Kernels compile on first use; Mega MoE needs symmetric memory, PyTorch 2.9+</a:t>
            </a:r>
          </a:p>
        </p:txBody>
      </p:sp>
      <p:sp>
        <p:nvSpPr>
          <p:cNvPr id="4" name="TextBox 3"/>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Summary</a:t>
            </a:r>
          </a:p>
        </p:txBody>
      </p:sp>
      <p:sp>
        <p:nvSpPr>
          <p:cNvPr id="3" name="TextBox 2"/>
          <p:cNvSpPr txBox="1"/>
          <p:nvPr/>
        </p:nvSpPr>
        <p:spPr>
          <a:xfrm>
            <a:off x="548640" y="1463040"/>
            <a:ext cx="11094415" cy="4663440"/>
          </a:xfrm>
          <a:prstGeom prst="rect">
            <a:avLst/>
          </a:prstGeom>
          <a:noFill/>
        </p:spPr>
        <p:txBody>
          <a:bodyPr wrap="square" lIns="45720" rIns="45720" tIns="27432" bIns="27432" anchor="t">
            <a:spAutoFit/>
          </a:bodyPr>
          <a:lstStyle/>
          <a:p>
            <a:pPr marL="320040" indent="-292608">
              <a:spcAft>
                <a:spcPts val="1080"/>
              </a:spcAft>
              <a:buChar char="•"/>
            </a:pPr>
            <a:r>
              <a:rPr sz="2400" b="0" i="0">
                <a:solidFill>
                  <a:srgbClr val="222222"/>
                </a:solidFill>
                <a:latin typeface="Calibri"/>
              </a:rPr>
              <a:t>An MoE step is four different matmuls; a BLAS call fits none of them</a:t>
            </a:r>
          </a:p>
          <a:p>
            <a:pPr marL="320040" indent="-292608">
              <a:spcAft>
                <a:spcPts val="1080"/>
              </a:spcAft>
              <a:buChar char="•"/>
            </a:pPr>
            <a:r>
              <a:rPr sz="2400" b="1" i="0">
                <a:solidFill>
                  <a:srgbClr val="1F4E79"/>
                </a:solidFill>
                <a:latin typeface="Calibri"/>
              </a:rPr>
              <a:t>Insight</a:t>
            </a:r>
            <a:r>
              <a:rPr sz="2400" b="0" i="0">
                <a:solidFill>
                  <a:srgbClr val="222222"/>
                </a:solidFill>
                <a:latin typeface="Calibri"/>
              </a:rPr>
              <a:t>: one kernel per family, shapes and switches burned in by the JIT</a:t>
            </a:r>
          </a:p>
          <a:p>
            <a:pPr marL="320040" indent="-292608">
              <a:spcAft>
                <a:spcPts val="1080"/>
              </a:spcAft>
              <a:buChar char="•"/>
            </a:pPr>
            <a:r>
              <a:rPr sz="2400" b="0" i="0">
                <a:solidFill>
                  <a:srgbClr val="222222"/>
                </a:solidFill>
                <a:latin typeface="Calibri"/>
              </a:rPr>
              <a:t>Dense FP8 </a:t>
            </a:r>
            <a:r>
              <a:rPr sz="2400" b="1" i="0">
                <a:solidFill>
                  <a:srgbClr val="222222"/>
                </a:solidFill>
                <a:latin typeface="Calibri"/>
              </a:rPr>
              <a:t>1426 TFLOPS</a:t>
            </a:r>
            <a:r>
              <a:rPr sz="2400" b="0" i="0">
                <a:solidFill>
                  <a:srgbClr val="222222"/>
                </a:solidFill>
                <a:latin typeface="Calibri"/>
              </a:rPr>
              <a:t> (peak </a:t>
            </a:r>
            <a:r>
              <a:rPr sz="2400" b="1" i="0">
                <a:solidFill>
                  <a:srgbClr val="222222"/>
                </a:solidFill>
                <a:latin typeface="Calibri"/>
              </a:rPr>
              <a:t>1550</a:t>
            </a:r>
            <a:r>
              <a:rPr sz="2400" b="0" i="0">
                <a:solidFill>
                  <a:srgbClr val="222222"/>
                </a:solidFill>
                <a:latin typeface="Calibri"/>
              </a:rPr>
              <a:t>), </a:t>
            </a:r>
            <a:r>
              <a:rPr sz="2400" b="1" i="0">
                <a:solidFill>
                  <a:srgbClr val="222222"/>
                </a:solidFill>
                <a:latin typeface="Calibri"/>
              </a:rPr>
              <a:t>1.3-1.4x</a:t>
            </a:r>
            <a:r>
              <a:rPr sz="2400" b="0" i="0">
                <a:solidFill>
                  <a:srgbClr val="222222"/>
                </a:solidFill>
                <a:latin typeface="Calibri"/>
              </a:rPr>
              <a:t> over tuned CUTLASS</a:t>
            </a:r>
          </a:p>
          <a:p>
            <a:pPr marL="320040" indent="-292608">
              <a:spcAft>
                <a:spcPts val="1080"/>
              </a:spcAft>
              <a:buChar char="•"/>
            </a:pPr>
            <a:r>
              <a:rPr sz="2400" b="0" i="0">
                <a:solidFill>
                  <a:srgbClr val="222222"/>
                </a:solidFill>
                <a:latin typeface="Calibri"/>
              </a:rPr>
              <a:t>Mega MoE </a:t>
            </a:r>
            <a:r>
              <a:rPr sz="2400" b="1" i="0">
                <a:solidFill>
                  <a:srgbClr val="222222"/>
                </a:solidFill>
                <a:latin typeface="Calibri"/>
              </a:rPr>
              <a:t>1.50-1.96x</a:t>
            </a:r>
            <a:r>
              <a:rPr sz="2400" b="0" i="0">
                <a:solidFill>
                  <a:srgbClr val="222222"/>
                </a:solidFill>
                <a:latin typeface="Calibri"/>
              </a:rPr>
              <a:t>; Mega Gate </a:t>
            </a:r>
            <a:r>
              <a:rPr sz="2400" b="1" i="0">
                <a:solidFill>
                  <a:srgbClr val="222222"/>
                </a:solidFill>
                <a:latin typeface="Calibri"/>
              </a:rPr>
              <a:t>30-75%</a:t>
            </a:r>
            <a:r>
              <a:rPr sz="2400" b="0" i="0">
                <a:solidFill>
                  <a:srgbClr val="222222"/>
                </a:solidFill>
                <a:latin typeface="Calibri"/>
              </a:rPr>
              <a:t>, Mega mHC </a:t>
            </a:r>
            <a:r>
              <a:rPr sz="2400" b="1" i="0">
                <a:solidFill>
                  <a:srgbClr val="222222"/>
                </a:solidFill>
                <a:latin typeface="Calibri"/>
              </a:rPr>
              <a:t>45-85%</a:t>
            </a:r>
          </a:p>
        </p:txBody>
      </p:sp>
      <p:pic>
        <p:nvPicPr>
          <p:cNvPr id="4" name="Picture 3" descr="image.png"/>
          <p:cNvPicPr>
            <a:picLocks noChangeAspect="1"/>
          </p:cNvPicPr>
          <p:nvPr/>
        </p:nvPicPr>
        <p:blipFill>
          <a:blip r:embed="rId2"/>
          <a:stretch>
            <a:fillRect/>
          </a:stretch>
        </p:blipFill>
        <p:spPr>
          <a:xfrm>
            <a:off x="9997135" y="4389120"/>
            <a:ext cx="1645920" cy="1645920"/>
          </a:xfrm>
          <a:prstGeom prst="rect">
            <a:avLst/>
          </a:prstGeom>
        </p:spPr>
      </p:pic>
      <p:sp>
        <p:nvSpPr>
          <p:cNvPr id="5" name="TextBox 4"/>
          <p:cNvSpPr txBox="1"/>
          <p:nvPr/>
        </p:nvSpPr>
        <p:spPr>
          <a:xfrm>
            <a:off x="5242255" y="6080760"/>
            <a:ext cx="6400800" cy="320040"/>
          </a:xfrm>
          <a:prstGeom prst="rect">
            <a:avLst/>
          </a:prstGeom>
          <a:noFill/>
        </p:spPr>
        <p:txBody>
          <a:bodyPr wrap="square" lIns="45720" rIns="45720" tIns="27432" bIns="27432" anchor="t">
            <a:spAutoFit/>
          </a:bodyPr>
          <a:lstStyle/>
          <a:p>
            <a:pPr algn="r"/>
            <a:r>
              <a:rPr sz="1600" b="1" i="0">
                <a:solidFill>
                  <a:srgbClr val="1F4E79"/>
                </a:solidFill>
                <a:latin typeface="Calibri"/>
              </a:rPr>
              <a:t>https://github.com/deepseek-ai/DeepGEMM</a:t>
            </a:r>
          </a:p>
        </p:txBody>
      </p:sp>
      <p:sp>
        <p:nvSpPr>
          <p:cNvPr id="6" name="TextBox 5"/>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16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