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omni-modal LLM is a composite: modality encoders such as a ViT or Whisper turn raw inputs into token embeddings, an LLM backbone (the paper calls it the foundation) processes one interleaved sequence, and decoders such as an image tokenizer turn hidden states back into images. The example is the paper's Qwen3-MoE#Omni: Qwen2.5-Omni ViT and Whisper encoders, a Qwen3-30B-A3B backbone and a MoVQGAN image decoder. Source: VeOmni arXiv 2508.02317 §3.1 and §4.3.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cost of training a multimodal model with a framework built for text LLMs. ByteDance's Optimus paper profiled an internal multimodal model with a ViT encoder and a GPT backbone of over 100B parameters on Megatron-LM across more than 3,000 GPUs: over 48 percent of GPU cycles were idle, even with MegaScale, zero-bubble pipelining and fine-grained overlap, because one uniform plan stages a small encoder and a huge LLM together. VeOmni cites this work for exactly that imbalance. Source: Optimus §1 and §2.2, Table 1 (5.12 s average step).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Megatron-style frameworks get their speed from model blocks rewritten around tensor and pipeline parallelism, and they apply one plan to every module. A new encoder must first be ported into those blocks. Multimodal systems such as DistMM, DistTrain and Optimus fix parts of the efficiency problem for any-to-text models, but VeOmni argues they still couple communication with computation and none trains any-to-any end to end. Source: VeOmni §1, §2.2, Fig.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where each strategy actually touches a layer. FSDP only needs the parameters: gather them before a module runs, reduce-scatter the gradients after. Ulysses sequence parallelism only needs the attention boundary: one all-to-all before the attention core and one after. Expert parallelism only needs the expert weight tensors, plus the token all-to-all inside the fused MoE op. None of them needs to rewrite the rest of the model, so the model can stay a plain HuggingFace definition. Source: VeOmni §3.2.1-3.2.3, App. B.5-B.7.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rest of the talk. HuggingFace modules on top; VeOmni adds two interfaces: the omni protocol for plugging modalities in, and a declarative parallel plan over one global DeviceMesh. Below that are the recipes: FSDP2 or HSDP everywhere, EP combined with FSDP2 for experts, and Ulysses sequence parallelism. Services such as dynamic batching (deck 51) and distributed checkpointing (deck 50) also live outside the model. The runtime is plain PyTorch DTensor, FSDP2 and DCP, on CUDA, ROCm, Ascend or Cambricon. Sources: VeOmni §3, App. B; README; hardware docs.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encoder implements lm_encode, which turns raw pixels or audio into token embeddings; masked_scatter writes them into the positions that the per-modality input mask marks in the foundation's input embeddings. For generation, the decoder's lm_encode embeds the target image tokens for teacher forcing, and its lm_head computes the image-token loss next to the text loss. At inference, lm_embed and lm_generate close the loop. Source: VeOmni §3.1, Fig. 2, Listing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expert-parallel plan of Qwen3-MoE is two wildcard entries mapping the fused expert weights to Shard(0). On 16 GPUs with EP 8, each GPU in a node holds 16 of the 128 experts; ranks holding the same experts on the two nodes form an EP-FSDP group that shards dimension 1, so each rank stores 16 by 1024 by 768 of down_proj. Sharding FSDP on dimension 1 means EP times FSDP size need not equal the expert count. Everything else is FSDP2 over all 16 ranks. The price: separate optimizers, LR schedulers and grad clipping for expert and non-expert parameters. Sources: docs/key_features/ep_fsdp2.md; qwen3_moe/parallel_plan.py.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Ulysses size P, each GPU holds S over P tokens with all heads. Before attention, an all-to-all gathers the sequence and scatters the heads, so each GPU runs ordinary FlashAttention over the whole sequence for H over P heads; a second all-to-all restores the sequence sharding. VeOmni wraps HuggingFace's flash-attention forward, so model code does not change, and Async-Ulysses overlaps the all-to-alls with the linear projections. Communication volume stays constant when sequence length and P grow together; the head count must be divisible by P. Ring-style context parallelism: deck 68. Sources: VeOmni §3.2.2, App. B.6; docs ulysses.md.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services follow the same rule. Dynamic batching buffers samples and packs them to a target token budget instead of padding; FlashAttention's cumulative sequence lengths keep attention inside each sample (deck 51). Checkpoints are written with PyTorch Distributed Checkpoint, weights and optimizer as separate sharded directories, and VeOmni supports resharding loads across parallelism patterns, so a job can resume on a different mesh (deck 50). The paper used ByteCheckpoint; the open-source repo uses DCP. Sources: VeOmni §3.2.5; docs data_packing_and_dyn_bsz.md, checkpoint.md, extra_parallel.md.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 a 30B mixture-of-experts omni-modal model built on Qwen3-30B-A3B trains at over 2,800 tokens per second per GPU with 3D parallelism on 128 GPUs. Context is a separate claim: with more SP and EP the same model reaches 160K tokens, at lower throughput. Dense Qwen2-VL models reach 192K tokens at 61.5 percent MFU for 7B on 8 GPUs and 96K at 54.82 percent for 72B on 128 GPUs. Encoders and decoders were frozen in these runs. Sources: Abstract; §4.1-4.2.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other framework trains any-to-any models, so the paper compares against TorchTitan on text-only models. Same model, same 128 GPUs, micro-batch 1, global batch 128: at 32K VeOmni needs 31.41 GB per GPU against 71.81 GB, 2.3 times less (derived), and it is also faster, 5,315 versus 4,878 tokens per second per GPU. At 64K and 128K TorchTitan runs out of memory while VeOmni needs 43 and 70 GB. Source: App. A Table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zoo now covers text LLMs up to DeepSeek-V3 and V4, vision-language MoE, omni models and video diffusion transformers. On AMD the repo has been validated end to end on 8 MI308X GPUs; on Ascend it supports A2, A3 and 950 series; on Cambricon MLU most of the device-agnostic path, FSDP2, Ulysses, EP and checkpointing, runs as is. Public users include UI-TARS-2, LMMs-Engine, dFactory and LingBot-VLA. Ascend adaptation in a production stack: deck 23. Sources: README (News, Supported Models, Awesome work); docs/hardware_support.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VeOmni avoids pipeline parallelism entirely; the paper names non-intrusive PP as future work, so very large dense models lean on FSDP plus SP. Decoupling is not zero-code: the integration guide lists only an init file for a dense text model but an init file plus four more for an omni-modal MoE, covering SP position slicing, fused MoE and the EP plan. The text-only Qwen3-30B-A3B runs report 7.45 to 17.92 percent MFU. All comparisons are against TorchTitan on text models, and the omni runs freeze encoders and decoders. Sources: §5; docs guide_and_checklist.md; App. A Table 4; §4.1; docs ulysses.md.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VeOmni's bet is that omni-modal training needs the model and the parallel plan to be separate objects. Because FSDP, Ulysses and EP each touch one narrow boundary, a two-entry plan and a device mesh replace rewritten model code. The children decks cover checkpoint resharding (50) and packing (51); related decks cover context parallelism (68), Megatron-FSDP (70) and pipeline-level EP overlap (11), the approach VeOmni deliberately avoids.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VeOmni</a:t>
            </a:r>
          </a:p>
          <a:p>
            <a:pPr>
              <a:spcBef>
                <a:spcPts val="600"/>
              </a:spcBef>
            </a:pPr>
            <a:r>
              <a:rPr sz="2600" b="0" i="0">
                <a:solidFill>
                  <a:srgbClr val="222222"/>
                </a:solidFill>
                <a:latin typeface="Calibri"/>
              </a:rPr>
              <a:t>Model-centric distributed recipes for omni-modal training</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ByteDance Seed · VeOmni (arXiv 2508.02317, AAAI 2026)</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arxiv.org/abs/2508.02317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Omni models = encoders + LLM + decoders</a:t>
            </a:r>
          </a:p>
        </p:txBody>
      </p:sp>
      <p:pic>
        <p:nvPicPr>
          <p:cNvPr id="3" name="Picture 2" descr="fig_omni.png"/>
          <p:cNvPicPr>
            <a:picLocks noChangeAspect="1"/>
          </p:cNvPicPr>
          <p:nvPr/>
        </p:nvPicPr>
        <p:blipFill>
          <a:blip r:embed="rId2"/>
          <a:stretch>
            <a:fillRect/>
          </a:stretch>
        </p:blipFill>
        <p:spPr>
          <a:xfrm>
            <a:off x="5541126" y="1759194"/>
            <a:ext cx="6101928" cy="407113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part pretrained separately, with its own shape</a:t>
            </a:r>
          </a:p>
          <a:p>
            <a:pPr marL="320040" indent="-292608">
              <a:spcAft>
                <a:spcPts val="1080"/>
              </a:spcAft>
              <a:buChar char="•"/>
            </a:pPr>
            <a:r>
              <a:rPr sz="2400" b="0" i="0">
                <a:solidFill>
                  <a:srgbClr val="222222"/>
                </a:solidFill>
                <a:latin typeface="Calibri"/>
              </a:rPr>
              <a:t>One sequence mixes text, image, video, audio</a:t>
            </a:r>
          </a:p>
          <a:p>
            <a:pPr marL="320040" indent="-292608">
              <a:spcAft>
                <a:spcPts val="1080"/>
              </a:spcAft>
              <a:buChar char="•"/>
            </a:pPr>
            <a:r>
              <a:rPr sz="2400" b="0" i="0">
                <a:solidFill>
                  <a:srgbClr val="222222"/>
                </a:solidFill>
                <a:latin typeface="Calibri"/>
              </a:rPr>
              <a:t>Goal: train any-to-any, end to end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3D parallelism wastes half the GPU cycles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&gt; 48%</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GPU cycles idle: &gt;100B ViT+GPT model, Megatron-LM, 3,000+ GPUs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Optimus (ByteDance, ATC'25), arXiv 2408.03505 §2.2; cited by VeOmni as its evidence [17]</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In-model parallel code blocks new modalities</a:t>
            </a:r>
          </a:p>
        </p:txBody>
      </p:sp>
      <p:pic>
        <p:nvPicPr>
          <p:cNvPr id="3" name="Picture 2" descr="fig_coupled.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new modality means new parallel code, and one global plan fits no module well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each strategy touches one boundary</a:t>
            </a:r>
          </a:p>
        </p:txBody>
      </p:sp>
      <p:pic>
        <p:nvPicPr>
          <p:cNvPr id="3" name="Picture 2" descr="fig_hooks.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 parallelism can be a per-module plan, applied from outside the model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VeOmni puts recipes under unmodified models</a:t>
            </a:r>
          </a:p>
        </p:txBody>
      </p:sp>
      <p:pic>
        <p:nvPicPr>
          <p:cNvPr id="3" name="Picture 2" descr="fig_stack.png"/>
          <p:cNvPicPr>
            <a:picLocks noChangeAspect="1"/>
          </p:cNvPicPr>
          <p:nvPr/>
        </p:nvPicPr>
        <p:blipFill>
          <a:blip r:embed="rId2"/>
          <a:stretch>
            <a:fillRect/>
          </a:stretch>
        </p:blipFill>
        <p:spPr>
          <a:xfrm>
            <a:off x="548640" y="1555587"/>
            <a:ext cx="11094415" cy="4112584"/>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Accent = VeOmni-owned; gray = HF models, PyTorch, hardware; [N] = sibling explainer deck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Modalities plug in via lm_encode and lm_head</a:t>
            </a:r>
          </a:p>
        </p:txBody>
      </p:sp>
      <p:pic>
        <p:nvPicPr>
          <p:cNvPr id="3" name="Picture 2" descr="fig_protocol.png"/>
          <p:cNvPicPr>
            <a:picLocks noChangeAspect="1"/>
          </p:cNvPicPr>
          <p:nvPr/>
        </p:nvPicPr>
        <p:blipFill>
          <a:blip r:embed="rId2"/>
          <a:stretch>
            <a:fillRect/>
          </a:stretch>
        </p:blipFill>
        <p:spPr>
          <a:xfrm>
            <a:off x="725194" y="1463040"/>
            <a:ext cx="10741306"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Encoders and decoders extend HF PreTrainedModel plus a mixin, with no parallel code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 two-entry plan shards experts on a 2D mesh</a:t>
            </a:r>
          </a:p>
        </p:txBody>
      </p:sp>
      <p:pic>
        <p:nvPicPr>
          <p:cNvPr id="3" name="Picture 2" descr="fig_mesh.png"/>
          <p:cNvPicPr>
            <a:picLocks noChangeAspect="1"/>
          </p:cNvPicPr>
          <p:nvPr/>
        </p:nvPicPr>
        <p:blipFill>
          <a:blip r:embed="rId2"/>
          <a:stretch>
            <a:fillRect/>
          </a:stretch>
        </p:blipFill>
        <p:spPr>
          <a:xfrm>
            <a:off x="548640" y="1646446"/>
            <a:ext cx="11094415" cy="39308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Worked example from VeOmni's EP+FSDP2 docs: Qwen3-30B-A3B (128 experts) on 2 × 8 GPUs; EP size × EP-FSDP size = world size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Ulysses re-shards attention with two all-to-alls</a:t>
            </a:r>
          </a:p>
        </p:txBody>
      </p:sp>
      <p:pic>
        <p:nvPicPr>
          <p:cNvPr id="3" name="Picture 2" descr="fig_ulysses.png"/>
          <p:cNvPicPr>
            <a:picLocks noChangeAspect="1"/>
          </p:cNvPicPr>
          <p:nvPr/>
        </p:nvPicPr>
        <p:blipFill>
          <a:blip r:embed="rId2"/>
          <a:stretch>
            <a:fillRect/>
          </a:stretch>
        </p:blipFill>
        <p:spPr>
          <a:xfrm>
            <a:off x="548640" y="1479433"/>
            <a:ext cx="11094415" cy="362481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Only attention sees the full sequence; norms and MLPs keep S/P tokens per GPU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Batching and checkpoints stay outside too</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Dynamic batching</a:t>
            </a:r>
            <a:r>
              <a:rPr sz="2400" b="0" i="0">
                <a:solidFill>
                  <a:srgbClr val="222222"/>
                </a:solidFill>
                <a:latin typeface="Calibri"/>
              </a:rPr>
              <a:t> (deck 51)</a:t>
            </a:r>
          </a:p>
          <a:p>
            <a:pPr marL="320040" indent="-292608">
              <a:spcAft>
                <a:spcPts val="1080"/>
              </a:spcAft>
              <a:buChar char="•"/>
            </a:pPr>
            <a:r>
              <a:rPr sz="2400" b="0" i="0">
                <a:solidFill>
                  <a:srgbClr val="222222"/>
                </a:solidFill>
                <a:latin typeface="Calibri"/>
              </a:rPr>
              <a:t>Pack samples to a token budget</a:t>
            </a:r>
          </a:p>
          <a:p>
            <a:pPr marL="320040" indent="-292608">
              <a:spcAft>
                <a:spcPts val="1080"/>
              </a:spcAft>
              <a:buChar char="•"/>
            </a:pPr>
            <a:r>
              <a:rPr sz="2200" b="0" i="0">
                <a:solidFill>
                  <a:srgbClr val="222222"/>
                </a:solidFill>
                <a:latin typeface="Menlo"/>
              </a:rPr>
              <a:t>cu_seqlens</a:t>
            </a:r>
            <a:r>
              <a:rPr sz="2400" b="0" i="0">
                <a:solidFill>
                  <a:srgbClr val="222222"/>
                </a:solidFill>
                <a:latin typeface="Calibri"/>
              </a:rPr>
              <a:t> keeps attention per sample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DCP checkpoints</a:t>
            </a:r>
            <a:r>
              <a:rPr sz="2400" b="0" i="0">
                <a:solidFill>
                  <a:srgbClr val="222222"/>
                </a:solidFill>
                <a:latin typeface="Calibri"/>
              </a:rPr>
              <a:t> (deck 50)</a:t>
            </a:r>
          </a:p>
          <a:p>
            <a:pPr marL="320040" indent="-292608">
              <a:spcAft>
                <a:spcPts val="1080"/>
              </a:spcAft>
              <a:buChar char="•"/>
            </a:pPr>
            <a:r>
              <a:rPr sz="2400" b="0" i="0">
                <a:solidFill>
                  <a:srgbClr val="222222"/>
                </a:solidFill>
                <a:latin typeface="Calibri"/>
              </a:rPr>
              <a:t>Weights and optimizer saved as shards</a:t>
            </a:r>
          </a:p>
          <a:p>
            <a:pPr marL="320040" indent="-292608">
              <a:spcAft>
                <a:spcPts val="1080"/>
              </a:spcAft>
              <a:buChar char="•"/>
            </a:pPr>
            <a:r>
              <a:rPr sz="2400" b="0" i="0">
                <a:solidFill>
                  <a:srgbClr val="222222"/>
                </a:solidFill>
                <a:latin typeface="Calibri"/>
              </a:rPr>
              <a:t>Reload under a different mesh</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Neither service touches the model definition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30B omni MoE trains at 2,800+ tokens/s/GPU</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2,800+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tokens/s/GPU: 30B omni-modal MoE, FSDP + SP + EP on 128 GPUs</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Context reach: </a:t>
            </a:r>
            <a:r>
              <a:rPr sz="2000" b="1" i="0">
                <a:solidFill>
                  <a:srgbClr val="222222"/>
                </a:solidFill>
                <a:latin typeface="Calibri"/>
              </a:rPr>
              <a:t>160K</a:t>
            </a:r>
            <a:r>
              <a:rPr sz="2000" b="0" i="0">
                <a:solidFill>
                  <a:srgbClr val="222222"/>
                </a:solidFill>
                <a:latin typeface="Calibri"/>
              </a:rPr>
              <a:t> (30B MoE), </a:t>
            </a:r>
            <a:r>
              <a:rPr sz="2000" b="1" i="0">
                <a:solidFill>
                  <a:srgbClr val="222222"/>
                </a:solidFill>
                <a:latin typeface="Calibri"/>
              </a:rPr>
              <a:t>192K</a:t>
            </a:r>
            <a:r>
              <a:rPr sz="2000" b="0" i="0">
                <a:solidFill>
                  <a:srgbClr val="222222"/>
                </a:solidFill>
                <a:latin typeface="Calibri"/>
              </a:rPr>
              <a:t> at 61.5% MFU (7B), </a:t>
            </a:r>
            <a:r>
              <a:rPr sz="2000" b="1" i="0">
                <a:solidFill>
                  <a:srgbClr val="222222"/>
                </a:solidFill>
                <a:latin typeface="Calibri"/>
              </a:rPr>
              <a:t>96K</a:t>
            </a:r>
            <a:r>
              <a:rPr sz="2000" b="0" i="0">
                <a:solidFill>
                  <a:srgbClr val="222222"/>
                </a:solidFill>
                <a:latin typeface="Calibri"/>
              </a:rPr>
              <a:t> at 54.82% MFU (72B)</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VeOmni arXiv 2508.02317, Abstract and §4.2 (Fig. 4-6)</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Same recipe, 2.3× less memory than TorchTitan</a:t>
            </a:r>
          </a:p>
        </p:txBody>
      </p:sp>
      <p:pic>
        <p:nvPicPr>
          <p:cNvPr id="3" name="Picture 2" descr="mem_vs_titan.png"/>
          <p:cNvPicPr>
            <a:picLocks noChangeAspect="1"/>
          </p:cNvPicPr>
          <p:nvPr/>
        </p:nvPicPr>
        <p:blipFill>
          <a:blip r:embed="rId2"/>
          <a:stretch>
            <a:fillRect/>
          </a:stretch>
        </p:blipFill>
        <p:spPr>
          <a:xfrm>
            <a:off x="5197614" y="1463040"/>
            <a:ext cx="6234231"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Qwen2-7B text model, FSDP, 128 GPUs</a:t>
            </a:r>
          </a:p>
          <a:p>
            <a:pPr marL="320040" indent="-292608">
              <a:spcAft>
                <a:spcPts val="1080"/>
              </a:spcAft>
              <a:buChar char="•"/>
            </a:pPr>
            <a:r>
              <a:rPr sz="2400" b="0" i="0">
                <a:solidFill>
                  <a:srgbClr val="222222"/>
                </a:solidFill>
                <a:latin typeface="Calibri"/>
              </a:rPr>
              <a:t>Both with full activation checkpointing</a:t>
            </a:r>
          </a:p>
          <a:p>
            <a:pPr marL="320040" indent="-292608">
              <a:spcAft>
                <a:spcPts val="1080"/>
              </a:spcAft>
              <a:buChar char="•"/>
            </a:pPr>
            <a:r>
              <a:rPr sz="2400" b="0" i="0">
                <a:solidFill>
                  <a:srgbClr val="222222"/>
                </a:solidFill>
                <a:latin typeface="Calibri"/>
              </a:rPr>
              <a:t>TorchTitan OOMs at 64K and 128K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VeOmni spans model families and accelerators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Models</a:t>
            </a:r>
            <a:r>
              <a:rPr sz="2400" b="0" i="0">
                <a:solidFill>
                  <a:srgbClr val="222222"/>
                </a:solidFill>
                <a:latin typeface="Calibri"/>
              </a:rPr>
              <a:t>: DeepSeek-V3/V4, Qwen3-VL MoE, Qwen3-Omni, Wan 2.1</a:t>
            </a:r>
          </a:p>
          <a:p>
            <a:pPr marL="320040" indent="-292608">
              <a:spcAft>
                <a:spcPts val="1080"/>
              </a:spcAft>
              <a:buChar char="•"/>
            </a:pPr>
            <a:r>
              <a:rPr sz="2400" b="1" i="0">
                <a:solidFill>
                  <a:srgbClr val="222222"/>
                </a:solidFill>
                <a:latin typeface="Calibri"/>
              </a:rPr>
              <a:t>Hardware</a:t>
            </a:r>
            <a:r>
              <a:rPr sz="2400" b="0" i="0">
                <a:solidFill>
                  <a:srgbClr val="222222"/>
                </a:solidFill>
                <a:latin typeface="Calibri"/>
              </a:rPr>
              <a:t>: CUDA, ROCm, Ascend, Cambricon MLU</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Users</a:t>
            </a:r>
            <a:r>
              <a:rPr sz="2400" b="0" i="0">
                <a:solidFill>
                  <a:srgbClr val="222222"/>
                </a:solidFill>
                <a:latin typeface="Calibri"/>
              </a:rPr>
              <a:t>: UI-TARS-2, LMMs-Engine, dFactory, LingBot-VLA</a:t>
            </a:r>
          </a:p>
          <a:p>
            <a:pPr marL="320040" indent="-292608">
              <a:spcAft>
                <a:spcPts val="1080"/>
              </a:spcAft>
              <a:buChar char="•"/>
            </a:pPr>
            <a:r>
              <a:rPr sz="2400" b="0" i="0">
                <a:solidFill>
                  <a:srgbClr val="222222"/>
                </a:solidFill>
                <a:latin typeface="Calibri"/>
              </a:rPr>
              <a:t>Open since 2025/04; v0.1.0 in 2025/09</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ROCm port adds no HIP code: the training path is device-agnostic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no PP, per-model patches, low MoE MFU</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No pipeline parallelism</a:t>
            </a:r>
            <a:r>
              <a:rPr sz="2400" b="0" i="0">
                <a:solidFill>
                  <a:srgbClr val="222222"/>
                </a:solidFill>
                <a:latin typeface="Calibri"/>
              </a:rPr>
              <a:t>: listed as future work</a:t>
            </a:r>
          </a:p>
          <a:p>
            <a:pPr marL="320040" indent="-292608">
              <a:spcAft>
                <a:spcPts val="1080"/>
              </a:spcAft>
              <a:buChar char="•"/>
            </a:pPr>
            <a:r>
              <a:rPr sz="2400" b="1" i="0">
                <a:solidFill>
                  <a:srgbClr val="C00000"/>
                </a:solidFill>
                <a:latin typeface="Calibri"/>
              </a:rPr>
              <a:t>Per-model files</a:t>
            </a:r>
            <a:r>
              <a:rPr sz="2400" b="0" i="0">
                <a:solidFill>
                  <a:srgbClr val="222222"/>
                </a:solidFill>
                <a:latin typeface="Calibri"/>
              </a:rPr>
              <a:t>: omni MoE needs </a:t>
            </a:r>
            <a:r>
              <a:rPr sz="2200" b="0" i="0">
                <a:solidFill>
                  <a:srgbClr val="222222"/>
                </a:solidFill>
                <a:latin typeface="Menlo"/>
              </a:rPr>
              <a:t>__init__.py</a:t>
            </a:r>
            <a:r>
              <a:rPr sz="2400" b="0" i="0">
                <a:solidFill>
                  <a:srgbClr val="222222"/>
                </a:solidFill>
                <a:latin typeface="Calibri"/>
              </a:rPr>
              <a:t> + 4 more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Text MoE runs: </a:t>
            </a:r>
            <a:r>
              <a:rPr sz="2400" b="1" i="0">
                <a:solidFill>
                  <a:srgbClr val="222222"/>
                </a:solidFill>
                <a:latin typeface="Calibri"/>
              </a:rPr>
              <a:t>7–18%</a:t>
            </a:r>
            <a:r>
              <a:rPr sz="2400" b="0" i="0">
                <a:solidFill>
                  <a:srgbClr val="222222"/>
                </a:solidFill>
                <a:latin typeface="Calibri"/>
              </a:rPr>
              <a:t> MFU</a:t>
            </a:r>
          </a:p>
          <a:p>
            <a:pPr marL="320040" indent="-292608">
              <a:spcAft>
                <a:spcPts val="1080"/>
              </a:spcAft>
              <a:buChar char="•"/>
            </a:pPr>
            <a:r>
              <a:rPr sz="2400" b="0" i="0">
                <a:solidFill>
                  <a:srgbClr val="222222"/>
                </a:solidFill>
                <a:latin typeface="Calibri"/>
              </a:rPr>
              <a:t>Only text baselines; encoders frozen in eval</a:t>
            </a:r>
          </a:p>
          <a:p>
            <a:pPr marL="320040" indent="-292608">
              <a:spcAft>
                <a:spcPts val="1080"/>
              </a:spcAft>
              <a:buChar char="•"/>
            </a:pPr>
            <a:r>
              <a:rPr sz="2400" b="0" i="0">
                <a:solidFill>
                  <a:srgbClr val="222222"/>
                </a:solidFill>
                <a:latin typeface="Calibri"/>
              </a:rPr>
              <a:t>Ulysses: heads divisible by SP size</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Decoupled is not free: a plan per model, a patch per architecture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Uniform LLM parallelism: </a:t>
            </a:r>
            <a:r>
              <a:rPr sz="2400" b="1" i="0">
                <a:solidFill>
                  <a:srgbClr val="222222"/>
                </a:solidFill>
                <a:latin typeface="Calibri"/>
              </a:rPr>
              <a:t>&gt; 48%</a:t>
            </a:r>
            <a:r>
              <a:rPr sz="2400" b="0" i="0">
                <a:solidFill>
                  <a:srgbClr val="222222"/>
                </a:solidFill>
                <a:latin typeface="Calibri"/>
              </a:rPr>
              <a:t> GPU cycles idle on a large MLLM</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FSDP, SP, EP each touch one boundary, so plan them per module</a:t>
            </a:r>
          </a:p>
          <a:p>
            <a:pPr marL="320040" indent="-292608">
              <a:spcAft>
                <a:spcPts val="1080"/>
              </a:spcAft>
              <a:buChar char="•"/>
            </a:pPr>
            <a:r>
              <a:rPr sz="2400" b="1" i="0">
                <a:solidFill>
                  <a:srgbClr val="222222"/>
                </a:solidFill>
                <a:latin typeface="Calibri"/>
              </a:rPr>
              <a:t>2,800+</a:t>
            </a:r>
            <a:r>
              <a:rPr sz="2400" b="0" i="0">
                <a:solidFill>
                  <a:srgbClr val="222222"/>
                </a:solidFill>
                <a:latin typeface="Calibri"/>
              </a:rPr>
              <a:t> tokens/s/GPU 30B omni MoE; </a:t>
            </a:r>
            <a:r>
              <a:rPr sz="2400" b="1" i="0">
                <a:solidFill>
                  <a:srgbClr val="222222"/>
                </a:solidFill>
                <a:latin typeface="Calibri"/>
              </a:rPr>
              <a:t>160K</a:t>
            </a:r>
            <a:r>
              <a:rPr sz="2400" b="0" i="0">
                <a:solidFill>
                  <a:srgbClr val="222222"/>
                </a:solidFill>
                <a:latin typeface="Calibri"/>
              </a:rPr>
              <a:t> context; </a:t>
            </a:r>
            <a:r>
              <a:rPr sz="2400" b="1" i="0">
                <a:solidFill>
                  <a:srgbClr val="222222"/>
                </a:solidFill>
                <a:latin typeface="Calibri"/>
              </a:rPr>
              <a:t>2.3×</a:t>
            </a:r>
            <a:r>
              <a:rPr sz="2400" b="0" i="0">
                <a:solidFill>
                  <a:srgbClr val="222222"/>
                </a:solidFill>
                <a:latin typeface="Calibri"/>
              </a:rPr>
              <a:t> less memory than TorchTitan</a:t>
            </a:r>
          </a:p>
          <a:p>
            <a:pPr marL="320040" indent="-292608">
              <a:spcAft>
                <a:spcPts val="1080"/>
              </a:spcAft>
              <a:buChar char="•"/>
            </a:pPr>
            <a:r>
              <a:rPr sz="2400" b="0" i="0">
                <a:solidFill>
                  <a:srgbClr val="222222"/>
                </a:solidFill>
                <a:latin typeface="Calibri"/>
              </a:rPr>
              <a:t>Deep dives: decks 50, 51; related 68, 70, 11</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https://arxiv.org/abs/2508.02317</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