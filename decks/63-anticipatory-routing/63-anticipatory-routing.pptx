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every MoE layer of DeepSeek-V4 the router scores each token against every expert with a square-root-softplus affinity, adds a per-expert load-balancing bias, and keeps the top 6. So the expert indices depend on three things: the hidden state produced by the backbone below, the router's expert centroids, and the bias. The gate values that weight the expert outputs come from the affinities, without the bias. In standard training all of these come from the current parameters. The first 3 MoE layers use hash routing and have no learned router. Sources: DeepSeek-V4 §2.1, §4.2.1-4.2.2; DeepSeek-V3 §2.1.2 eqs. 12-16.</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DeepSeek reports notable instability in training the trillion-parameter V4 models. Rolling back to an earlier checkpoint restored the training state, but only temporarily: the loss spikes came back, because a rollback does not remove the cause. Empirically, every spike was tied to outliers in the MoE layers, and the routing mechanism itself appeared to make those outliers worse. There is no published measurement of spike size or frequency, so this slide is a schematic, not a number. Source: DeepSeek-V4 §4.2.3.</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structural suspect is synchronous coupling. The same parameters decide both what a layer computes and which experts each token visits, so an update that pushes a MoE layer towards outliers also changes the routing at the very next step, which may feed further outliers. DeepSeek describes this as a vicious cycle induced by routing, but states that a theoretical understanding is still missing; the loop drawn here is a hypothesis, not a measured chain. Sources: DeepSeek-V4 §4.2.3 and §6.</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DeepSeek found that breaking the synchrony between the backbone's updates and the routing network significantly improves training stability. The concrete form: at step t, every feature is computed with the current parameters, but the routing indices are computed with the parameters from Δt steps earlier. An update can then no longer change routing at the very next step. Source: DeepSeek-V4 §4.2.3.</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precise contract. In a standard step everything comes from theta t. In an anticipatory step the top-6 expert indices come from a cache computed with theta t minus delta t; hidden states, expert outputs, loss, gradients and the optimizer update all use theta t, and the update still produces theta t plus one. The paper only says routing indices; it does not say whether the gate values that weight the selected experts are recomputed with theta t, so the figure leaves them out. The paper does not publish delta t. Source: DeepSeek-V4 §4.2.3.</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Running the router with old parameters naively would mean keeping or reloading a second copy of the model. Instead, DeepSeek fetches the data of step t early, at step t minus delta t, when theta t minus delta t is the resident model, runs a single routing-only forward pass over it, and caches the indices; that is why it is called anticipatory. At step t, training uses the cached indices. DeepSeek orchestrated this extra pass inside the pipeline schedule and overlapped it with expert-parallel communication. Delta t = 2 is only for the drawing. Source: DeepSeek-V4 §4.2.3.</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Even after the infrastructure work the lookahead pass costs about 20 percent extra wall-clock time, too much to pay for a whole 33-trillion-token run. So an automatic detector watches for loss spikes; when one occurs it triggers a short rollback and switches anticipatory routing on; after running in this mode for a certain period, training returns to standard routing. The paper gives no detector threshold, rollback length or mode duration. Source: DeepSeek-V4 §4.2.3.</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published numbers are an overhead of about 20 percent of wall-clock time while the mode is active, and a negligible overall overhead with the spike-triggered policy, with loss spikes averted and no loss in model performance. Because the mode is only on for a fraction of the steps, the run-level cost is roughly 20 percent times that fraction; the chart is that formula, and the 5 percent example is illustrative since DeepSeek does not report how often the mode was on. Source: DeepSeek-V4 §4.2.3.</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Anticipatory routing attacks the routing-induced cycle; the second technique attacks the anomalous values themselves. Throughout the training of both V4 models, DeepSeek clamped the linear component of every SwiGLU to between minus 10 and 10 and capped the gate component at 10, which eliminated outliers without hurting performance. The Notion row credits mHC and Muon as partners, but in the paper's stability section the partner is SwiGLU clamping; mHC and Muon are separate levers (decks 61 and 64). The fused Mega MoE kernel applies the same clamp (deck 14). Source: DeepSeek-V4 §4.2.3.</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While on, the mode costs about 20 percent wall-clock. It needs a data loader that runs delta t batches ahead, storage for the cached indices, and the checkpoint-and-rollback machinery plus an automatic spike detector. DeepSeek publishes neither delta t nor the detection rule, and no ablation or spike statistics, and says the underlying principles of both Anticipatory Routing and SwiGLU clamping are insufficiently understood. Sources: DeepSeek-V4 §4.2.3 and §6.</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Anticipatory routing is a targeted way to break the coupling between what a MoE layer computes and where its tokens go, paid for only when a spike shows up. Related decks: 55 (loss-free balance routing), 61 (mHC), 64 (Muon at scale), 43 (deterministic kernels, which make spikes reproducible to study), 14 (Mega MoE with clamped SwiGLU). Source: DeepSeek-V4 §4.2.3.</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371600"/>
            <a:ext cx="11094415" cy="2011680"/>
          </a:xfrm>
          <a:prstGeom prst="rect">
            <a:avLst/>
          </a:prstGeom>
          <a:noFill/>
        </p:spPr>
        <p:txBody>
          <a:bodyPr wrap="square" lIns="45720" rIns="45720" tIns="27432" bIns="27432" anchor="b">
            <a:spAutoFit/>
          </a:bodyPr>
          <a:lstStyle/>
          <a:p>
            <a:r>
              <a:rPr sz="4000" b="1" i="0">
                <a:solidFill>
                  <a:srgbClr val="1F4E79"/>
                </a:solidFill>
                <a:latin typeface="Calibri"/>
              </a:rPr>
              <a:t>Anticipatory Routing</a:t>
            </a:r>
          </a:p>
          <a:p>
            <a:pPr>
              <a:spcBef>
                <a:spcPts val="600"/>
              </a:spcBef>
            </a:pPr>
            <a:r>
              <a:rPr sz="2600" b="0" i="0">
                <a:solidFill>
                  <a:srgbClr val="222222"/>
                </a:solidFill>
                <a:latin typeface="Calibri"/>
              </a:rPr>
              <a:t>Route step t with the parameters of step t−Δt</a:t>
            </a:r>
          </a:p>
        </p:txBody>
      </p:sp>
      <p:sp>
        <p:nvSpPr>
          <p:cNvPr id="3" name="Rectangle 2"/>
          <p:cNvSpPr/>
          <p:nvPr/>
        </p:nvSpPr>
        <p:spPr>
          <a:xfrm>
            <a:off x="548640" y="3520440"/>
            <a:ext cx="1463040" cy="54864"/>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749039"/>
            <a:ext cx="11094415" cy="1188720"/>
          </a:xfrm>
          <a:prstGeom prst="rect">
            <a:avLst/>
          </a:prstGeom>
          <a:noFill/>
        </p:spPr>
        <p:txBody>
          <a:bodyPr wrap="square" lIns="45720" rIns="45720" tIns="27432" bIns="27432" anchor="t">
            <a:spAutoFit/>
          </a:bodyPr>
          <a:lstStyle/>
          <a:p>
            <a:r>
              <a:rPr sz="2200" b="0" u="none">
                <a:solidFill>
                  <a:srgbClr val="222222"/>
                </a:solidFill>
                <a:latin typeface="Calibri"/>
              </a:rPr>
              <a:t>DeepSeek-AI · DeepSeek-V4</a:t>
            </a:r>
          </a:p>
          <a:p>
            <a:pPr>
              <a:spcBef>
                <a:spcPts val="600"/>
              </a:spcBef>
            </a:pPr>
            <a:r>
              <a:rPr sz="1800" b="0" i="0">
                <a:solidFill>
                  <a:srgbClr val="6E6E6E"/>
                </a:solidFill>
                <a:latin typeface="Calibri"/>
              </a:rPr>
              <a:t>Explainer deck · Industrial Pretraining Architecture &amp; Infra Tech Landscape (2026)</a:t>
            </a:r>
          </a:p>
        </p:txBody>
      </p:sp>
      <p:sp>
        <p:nvSpPr>
          <p:cNvPr id="5" name="TextBox 4"/>
          <p:cNvSpPr txBox="1"/>
          <p:nvPr/>
        </p:nvSpPr>
        <p:spPr>
          <a:xfrm>
            <a:off x="548640" y="5943600"/>
            <a:ext cx="11094415" cy="457200"/>
          </a:xfrm>
          <a:prstGeom prst="rect">
            <a:avLst/>
          </a:prstGeom>
          <a:noFill/>
        </p:spPr>
        <p:txBody>
          <a:bodyPr wrap="square" lIns="45720" rIns="45720" tIns="27432" bIns="27432" anchor="t">
            <a:spAutoFit/>
          </a:bodyPr>
          <a:lstStyle/>
          <a:p>
            <a:r>
              <a:rPr sz="1600" b="0" i="0">
                <a:solidFill>
                  <a:srgbClr val="6E6E6E"/>
                </a:solidFill>
                <a:latin typeface="Calibri"/>
              </a:rPr>
              <a:t>Optimizer &amp; Stability · arxiv.org/abs/2606.19348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The router picks experts from current parameters</a:t>
            </a:r>
          </a:p>
        </p:txBody>
      </p:sp>
      <p:pic>
        <p:nvPicPr>
          <p:cNvPr id="3" name="Picture 2" descr="fig_route.png"/>
          <p:cNvPicPr>
            <a:picLocks noChangeAspect="1"/>
          </p:cNvPicPr>
          <p:nvPr/>
        </p:nvPicPr>
        <p:blipFill>
          <a:blip r:embed="rId2"/>
          <a:stretch>
            <a:fillRect/>
          </a:stretch>
        </p:blipFill>
        <p:spPr>
          <a:xfrm>
            <a:off x="6095847" y="1861904"/>
            <a:ext cx="5547207" cy="3865710"/>
          </a:xfrm>
          <a:prstGeom prst="rect">
            <a:avLst/>
          </a:prstGeom>
        </p:spPr>
      </p:pic>
      <p:sp>
        <p:nvSpPr>
          <p:cNvPr id="4" name="TextBox 3"/>
          <p:cNvSpPr txBox="1"/>
          <p:nvPr/>
        </p:nvSpPr>
        <p:spPr>
          <a:xfrm>
            <a:off x="548640" y="1463040"/>
            <a:ext cx="5181447"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V4-Pro: </a:t>
            </a:r>
            <a:r>
              <a:rPr sz="2400" b="1" i="0">
                <a:solidFill>
                  <a:srgbClr val="222222"/>
                </a:solidFill>
                <a:latin typeface="Calibri"/>
              </a:rPr>
              <a:t>1.6T</a:t>
            </a:r>
            <a:r>
              <a:rPr sz="2400" b="0" i="0">
                <a:solidFill>
                  <a:srgbClr val="222222"/>
                </a:solidFill>
                <a:latin typeface="Calibri"/>
              </a:rPr>
              <a:t> params, </a:t>
            </a:r>
            <a:r>
              <a:rPr sz="2400" b="1" i="0">
                <a:solidFill>
                  <a:srgbClr val="222222"/>
                </a:solidFill>
                <a:latin typeface="Calibri"/>
              </a:rPr>
              <a:t>384</a:t>
            </a:r>
            <a:r>
              <a:rPr sz="2400" b="0" i="0">
                <a:solidFill>
                  <a:srgbClr val="222222"/>
                </a:solidFill>
                <a:latin typeface="Calibri"/>
              </a:rPr>
              <a:t> experts, top-</a:t>
            </a:r>
            <a:r>
              <a:rPr sz="2400" b="1" i="0">
                <a:solidFill>
                  <a:srgbClr val="222222"/>
                </a:solidFill>
                <a:latin typeface="Calibri"/>
              </a:rPr>
              <a:t>6</a:t>
            </a:r>
          </a:p>
          <a:p>
            <a:pPr marL="320040" indent="-292608">
              <a:spcAft>
                <a:spcPts val="1080"/>
              </a:spcAft>
              <a:buChar char="•"/>
            </a:pPr>
            <a:r>
              <a:rPr sz="2400" b="1" i="0">
                <a:solidFill>
                  <a:srgbClr val="222222"/>
                </a:solidFill>
                <a:latin typeface="Calibri"/>
              </a:rPr>
              <a:t>33T</a:t>
            </a:r>
            <a:r>
              <a:rPr sz="2400" b="0" i="0">
                <a:solidFill>
                  <a:srgbClr val="222222"/>
                </a:solidFill>
                <a:latin typeface="Calibri"/>
              </a:rPr>
              <a:t> tokens, batches up to </a:t>
            </a:r>
            <a:r>
              <a:rPr sz="2400" b="1" i="0">
                <a:solidFill>
                  <a:srgbClr val="222222"/>
                </a:solidFill>
                <a:latin typeface="Calibri"/>
              </a:rPr>
              <a:t>94.4M</a:t>
            </a:r>
            <a:r>
              <a:rPr sz="2400" b="0" i="0">
                <a:solidFill>
                  <a:srgbClr val="222222"/>
                </a:solidFill>
                <a:latin typeface="Calibri"/>
              </a:rPr>
              <a:t> tokens</a:t>
            </a:r>
          </a:p>
          <a:p>
            <a:pPr marL="320040" indent="-292608">
              <a:spcAft>
                <a:spcPts val="1080"/>
              </a:spcAft>
              <a:buChar char="•"/>
            </a:pPr>
            <a:r>
              <a:rPr sz="2400" b="0" i="0">
                <a:solidFill>
                  <a:srgbClr val="222222"/>
                </a:solidFill>
                <a:latin typeface="Calibri"/>
              </a:rPr>
              <a:t>Expert choice depends on backbone, router and bias</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Rollbacks restore the run, not the stability</a:t>
            </a:r>
          </a:p>
        </p:txBody>
      </p:sp>
      <p:pic>
        <p:nvPicPr>
          <p:cNvPr id="3" name="Picture 2" descr="fig_spikes.png"/>
          <p:cNvPicPr>
            <a:picLocks noChangeAspect="1"/>
          </p:cNvPicPr>
          <p:nvPr/>
        </p:nvPicPr>
        <p:blipFill>
          <a:blip r:embed="rId2"/>
          <a:stretch>
            <a:fillRect/>
          </a:stretch>
        </p:blipFill>
        <p:spPr>
          <a:xfrm>
            <a:off x="640798" y="1463040"/>
            <a:ext cx="10910098" cy="3291839"/>
          </a:xfrm>
          <a:prstGeom prst="rect">
            <a:avLst/>
          </a:prstGeom>
        </p:spPr>
      </p:pic>
      <p:sp>
        <p:nvSpPr>
          <p:cNvPr id="4" name="TextBox 3"/>
          <p:cNvSpPr txBox="1"/>
          <p:nvPr/>
        </p:nvSpPr>
        <p:spPr>
          <a:xfrm>
            <a:off x="548640" y="475487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Schematic; DeepSeek publishes no spike sizes, counts or lost compute</a:t>
            </a:r>
          </a:p>
        </p:txBody>
      </p:sp>
      <p:sp>
        <p:nvSpPr>
          <p:cNvPr id="5" name="Rounded Rectangle 4"/>
          <p:cNvSpPr/>
          <p:nvPr/>
        </p:nvSpPr>
        <p:spPr>
          <a:xfrm>
            <a:off x="548640" y="5212079"/>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Spikes track outliers in MoE layers, and routing appears to amplify them</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Routing and features update in lockstep</a:t>
            </a:r>
          </a:p>
        </p:txBody>
      </p:sp>
      <p:pic>
        <p:nvPicPr>
          <p:cNvPr id="3" name="Picture 2" descr="fig_loop.png"/>
          <p:cNvPicPr>
            <a:picLocks noChangeAspect="1"/>
          </p:cNvPicPr>
          <p:nvPr/>
        </p:nvPicPr>
        <p:blipFill>
          <a:blip r:embed="rId2"/>
          <a:stretch>
            <a:fillRect/>
          </a:stretch>
        </p:blipFill>
        <p:spPr>
          <a:xfrm>
            <a:off x="6095847" y="1558337"/>
            <a:ext cx="5547207" cy="3467004"/>
          </a:xfrm>
          <a:prstGeom prst="rect">
            <a:avLst/>
          </a:prstGeom>
        </p:spPr>
      </p:pic>
      <p:sp>
        <p:nvSpPr>
          <p:cNvPr id="4" name="TextBox 3"/>
          <p:cNvSpPr txBox="1"/>
          <p:nvPr/>
        </p:nvSpPr>
        <p:spPr>
          <a:xfrm>
            <a:off x="548640" y="1463040"/>
            <a:ext cx="5181447" cy="3657599"/>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Standard step: one θ(t) for features and routing</a:t>
            </a:r>
          </a:p>
          <a:p>
            <a:pPr marL="320040" indent="-292608">
              <a:spcAft>
                <a:spcPts val="1080"/>
              </a:spcAft>
              <a:buChar char="•"/>
            </a:pPr>
            <a:r>
              <a:rPr sz="2400" b="0" i="0">
                <a:solidFill>
                  <a:srgbClr val="222222"/>
                </a:solidFill>
                <a:latin typeface="Calibri"/>
              </a:rPr>
              <a:t>An update that creates outliers also re-routes tokens</a:t>
            </a:r>
          </a:p>
        </p:txBody>
      </p:sp>
      <p:sp>
        <p:nvSpPr>
          <p:cNvPr id="5" name="Rounded Rectangle 4"/>
          <p:cNvSpPr/>
          <p:nvPr/>
        </p:nvSpPr>
        <p:spPr>
          <a:xfrm>
            <a:off x="548640" y="5257800"/>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DeepSeek calls the exact mechanism an open question</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Insight: let routing lag the backbone by Δt</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Empirical: decoupling backbone and router updates</a:t>
            </a:r>
          </a:p>
          <a:p>
            <a:pPr marL="320040" indent="-292608">
              <a:spcAft>
                <a:spcPts val="1080"/>
              </a:spcAft>
              <a:buChar char="•"/>
            </a:pPr>
            <a:r>
              <a:rPr sz="2400" b="0" i="0">
                <a:solidFill>
                  <a:srgbClr val="222222"/>
                </a:solidFill>
                <a:latin typeface="Calibri"/>
              </a:rPr>
              <a:t>Training becomes markedly more stable</a:t>
            </a:r>
          </a:p>
        </p:txBody>
      </p:sp>
      <p:sp>
        <p:nvSpPr>
          <p:cNvPr id="4" name="TextBox 3"/>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Insight: let routing lag the backbone by Δt</a:t>
            </a:r>
          </a:p>
        </p:txBody>
      </p:sp>
      <p:sp>
        <p:nvSpPr>
          <p:cNvPr id="3" name="TextBox 2"/>
          <p:cNvSpPr txBox="1"/>
          <p:nvPr/>
        </p:nvSpPr>
        <p:spPr>
          <a:xfrm>
            <a:off x="548640" y="1463040"/>
            <a:ext cx="11094415" cy="370332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Empirical: decoupling backbone and router updates</a:t>
            </a:r>
          </a:p>
          <a:p>
            <a:pPr marL="320040" indent="-292608">
              <a:spcAft>
                <a:spcPts val="1080"/>
              </a:spcAft>
              <a:buChar char="•"/>
            </a:pPr>
            <a:r>
              <a:rPr sz="2400" b="0" i="0">
                <a:solidFill>
                  <a:srgbClr val="222222"/>
                </a:solidFill>
                <a:latin typeface="Calibri"/>
              </a:rPr>
              <a:t>Training becomes markedly more stable</a:t>
            </a:r>
          </a:p>
        </p:txBody>
      </p:sp>
      <p:sp>
        <p:nvSpPr>
          <p:cNvPr id="4" name="Rounded Rectangle 3"/>
          <p:cNvSpPr/>
          <p:nvPr/>
        </p:nvSpPr>
        <p:spPr>
          <a:xfrm>
            <a:off x="548640" y="5257800"/>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Compute with θ(t), but choose experts with θ(t−Δt)</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Step t computes with θ(t), routes with θ(t−Δt)</a:t>
            </a:r>
          </a:p>
        </p:txBody>
      </p:sp>
      <p:pic>
        <p:nvPicPr>
          <p:cNvPr id="3" name="Picture 2" descr="fig_versions.png"/>
          <p:cNvPicPr>
            <a:picLocks noChangeAspect="1"/>
          </p:cNvPicPr>
          <p:nvPr/>
        </p:nvPicPr>
        <p:blipFill>
          <a:blip r:embed="rId2"/>
          <a:stretch>
            <a:fillRect/>
          </a:stretch>
        </p:blipFill>
        <p:spPr>
          <a:xfrm>
            <a:off x="792327" y="1463040"/>
            <a:ext cx="10607040" cy="3657599"/>
          </a:xfrm>
          <a:prstGeom prst="rect">
            <a:avLst/>
          </a:prstGeom>
        </p:spPr>
      </p:pic>
      <p:sp>
        <p:nvSpPr>
          <p:cNvPr id="4" name="Rounded Rectangle 3"/>
          <p:cNvSpPr/>
          <p:nvPr/>
        </p:nvSpPr>
        <p:spPr>
          <a:xfrm>
            <a:off x="548640" y="5212079"/>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Only one row changes: which experts each token visits</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❶ Routing indices are computed Δt steps early</a:t>
            </a:r>
          </a:p>
        </p:txBody>
      </p:sp>
      <p:pic>
        <p:nvPicPr>
          <p:cNvPr id="3" name="Picture 2" descr="fig_lookahead.png"/>
          <p:cNvPicPr>
            <a:picLocks noChangeAspect="1"/>
          </p:cNvPicPr>
          <p:nvPr/>
        </p:nvPicPr>
        <p:blipFill>
          <a:blip r:embed="rId2"/>
          <a:stretch>
            <a:fillRect/>
          </a:stretch>
        </p:blipFill>
        <p:spPr>
          <a:xfrm>
            <a:off x="548640" y="1532036"/>
            <a:ext cx="11094415" cy="3519607"/>
          </a:xfrm>
          <a:prstGeom prst="rect">
            <a:avLst/>
          </a:prstGeom>
        </p:spPr>
      </p:pic>
      <p:sp>
        <p:nvSpPr>
          <p:cNvPr id="4" name="Rounded Rectangle 3"/>
          <p:cNvSpPr/>
          <p:nvPr/>
        </p:nvSpPr>
        <p:spPr>
          <a:xfrm>
            <a:off x="548640" y="5212079"/>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θ(t−Δt) is already in memory at step t−Δt: no second copy of the model</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❷ Anticipatory mode turns on only after a spike</a:t>
            </a:r>
          </a:p>
        </p:txBody>
      </p:sp>
      <p:pic>
        <p:nvPicPr>
          <p:cNvPr id="3" name="Picture 2" descr="fig_modes.png"/>
          <p:cNvPicPr>
            <a:picLocks noChangeAspect="1"/>
          </p:cNvPicPr>
          <p:nvPr/>
        </p:nvPicPr>
        <p:blipFill>
          <a:blip r:embed="rId2"/>
          <a:stretch>
            <a:fillRect/>
          </a:stretch>
        </p:blipFill>
        <p:spPr>
          <a:xfrm>
            <a:off x="548640" y="1493779"/>
            <a:ext cx="11094415" cy="3596120"/>
          </a:xfrm>
          <a:prstGeom prst="rect">
            <a:avLst/>
          </a:prstGeom>
        </p:spPr>
      </p:pic>
      <p:sp>
        <p:nvSpPr>
          <p:cNvPr id="4" name="Rounded Rectangle 3"/>
          <p:cNvSpPr/>
          <p:nvPr/>
        </p:nvSpPr>
        <p:spPr>
          <a:xfrm>
            <a:off x="548640" y="5212079"/>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Detect a spike, roll back briefly, route anticipatorily for a while, then return</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≈20% slower while on, near zero overall</a:t>
            </a:r>
          </a:p>
        </p:txBody>
      </p:sp>
      <p:pic>
        <p:nvPicPr>
          <p:cNvPr id="3" name="Picture 2" descr="overhead.png"/>
          <p:cNvPicPr>
            <a:picLocks noChangeAspect="1"/>
          </p:cNvPicPr>
          <p:nvPr/>
        </p:nvPicPr>
        <p:blipFill>
          <a:blip r:embed="rId2"/>
          <a:stretch>
            <a:fillRect/>
          </a:stretch>
        </p:blipFill>
        <p:spPr>
          <a:xfrm>
            <a:off x="6145297" y="1463039"/>
            <a:ext cx="4893587" cy="3291839"/>
          </a:xfrm>
          <a:prstGeom prst="rect">
            <a:avLst/>
          </a:prstGeom>
        </p:spPr>
      </p:pic>
      <p:sp>
        <p:nvSpPr>
          <p:cNvPr id="4" name="TextBox 3"/>
          <p:cNvSpPr txBox="1"/>
          <p:nvPr/>
        </p:nvSpPr>
        <p:spPr>
          <a:xfrm>
            <a:off x="5541126" y="4754879"/>
            <a:ext cx="6101928" cy="365760"/>
          </a:xfrm>
          <a:prstGeom prst="rect">
            <a:avLst/>
          </a:prstGeom>
          <a:noFill/>
        </p:spPr>
        <p:txBody>
          <a:bodyPr wrap="square" lIns="45720" rIns="45720" tIns="27432" bIns="27432" anchor="t">
            <a:spAutoFit/>
          </a:bodyPr>
          <a:lstStyle/>
          <a:p>
            <a:pPr algn="ctr"/>
            <a:r>
              <a:rPr sz="1400" b="0" i="1">
                <a:solidFill>
                  <a:srgbClr val="6E6E6E"/>
                </a:solidFill>
                <a:latin typeface="Calibri"/>
              </a:rPr>
              <a:t>Analytic: overhead ≈ 20% × active fraction; the 5% point is illustrative</a:t>
            </a:r>
          </a:p>
        </p:txBody>
      </p:sp>
      <p:sp>
        <p:nvSpPr>
          <p:cNvPr id="5" name="TextBox 4"/>
          <p:cNvSpPr txBox="1"/>
          <p:nvPr/>
        </p:nvSpPr>
        <p:spPr>
          <a:xfrm>
            <a:off x="548640" y="1463040"/>
            <a:ext cx="4626726" cy="3291839"/>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About </a:t>
            </a:r>
            <a:r>
              <a:rPr sz="2400" b="1" i="0">
                <a:solidFill>
                  <a:srgbClr val="222222"/>
                </a:solidFill>
                <a:latin typeface="Calibri"/>
              </a:rPr>
              <a:t>20%</a:t>
            </a:r>
            <a:r>
              <a:rPr sz="2400" b="0" i="0">
                <a:solidFill>
                  <a:srgbClr val="222222"/>
                </a:solidFill>
                <a:latin typeface="Calibri"/>
              </a:rPr>
              <a:t> extra wall-clock while active</a:t>
            </a:r>
          </a:p>
          <a:p>
            <a:pPr marL="320040" indent="-292608">
              <a:spcAft>
                <a:spcPts val="1080"/>
              </a:spcAft>
              <a:buChar char="•"/>
            </a:pPr>
            <a:r>
              <a:rPr sz="2400" b="0" i="0">
                <a:solidFill>
                  <a:srgbClr val="222222"/>
                </a:solidFill>
                <a:latin typeface="Calibri"/>
              </a:rPr>
              <a:t>Active only after detected spikes</a:t>
            </a:r>
          </a:p>
          <a:p>
            <a:pPr marL="320040" indent="-292608">
              <a:spcAft>
                <a:spcPts val="1080"/>
              </a:spcAft>
              <a:buChar char="•"/>
            </a:pPr>
            <a:r>
              <a:rPr sz="2400" b="0" i="0">
                <a:solidFill>
                  <a:srgbClr val="222222"/>
                </a:solidFill>
                <a:latin typeface="Calibri"/>
              </a:rPr>
              <a:t>DeepSeek: spikes averted, quality unchanged</a:t>
            </a:r>
          </a:p>
        </p:txBody>
      </p:sp>
      <p:sp>
        <p:nvSpPr>
          <p:cNvPr id="6" name="Rounded Rectangle 5"/>
          <p:cNvSpPr/>
          <p:nvPr/>
        </p:nvSpPr>
        <p:spPr>
          <a:xfrm>
            <a:off x="548640" y="5257800"/>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Pay for the lookahead only while a spike is being handled</a:t>
            </a:r>
          </a:p>
        </p:txBody>
      </p:sp>
      <p:sp>
        <p:nvSpPr>
          <p:cNvPr id="7" name="TextBox 6"/>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V4 pairs it with SwiGLU clamping</a:t>
            </a:r>
          </a:p>
        </p:txBody>
      </p:sp>
      <p:pic>
        <p:nvPicPr>
          <p:cNvPr id="3" name="Picture 2" descr="fig_clamp.png"/>
          <p:cNvPicPr>
            <a:picLocks noChangeAspect="1"/>
          </p:cNvPicPr>
          <p:nvPr/>
        </p:nvPicPr>
        <p:blipFill>
          <a:blip r:embed="rId2"/>
          <a:stretch>
            <a:fillRect/>
          </a:stretch>
        </p:blipFill>
        <p:spPr>
          <a:xfrm>
            <a:off x="6095847" y="1991917"/>
            <a:ext cx="5547207" cy="3605684"/>
          </a:xfrm>
          <a:prstGeom prst="rect">
            <a:avLst/>
          </a:prstGeom>
        </p:spPr>
      </p:pic>
      <p:sp>
        <p:nvSpPr>
          <p:cNvPr id="4" name="TextBox 3"/>
          <p:cNvSpPr txBox="1"/>
          <p:nvPr/>
        </p:nvSpPr>
        <p:spPr>
          <a:xfrm>
            <a:off x="548640" y="1463040"/>
            <a:ext cx="5181447"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Clamping removes outliers directly</a:t>
            </a:r>
          </a:p>
          <a:p>
            <a:pPr marL="320040" indent="-292608">
              <a:spcAft>
                <a:spcPts val="1080"/>
              </a:spcAft>
              <a:buChar char="•"/>
            </a:pPr>
            <a:r>
              <a:rPr sz="2400" b="0" i="0">
                <a:solidFill>
                  <a:srgbClr val="222222"/>
                </a:solidFill>
                <a:latin typeface="Calibri"/>
              </a:rPr>
              <a:t>Linear part clamped to </a:t>
            </a:r>
            <a:r>
              <a:rPr sz="2400" b="1" i="0">
                <a:solidFill>
                  <a:srgbClr val="222222"/>
                </a:solidFill>
                <a:latin typeface="Calibri"/>
              </a:rPr>
              <a:t>[−10, 10]</a:t>
            </a:r>
            <a:r>
              <a:rPr sz="2400" b="0" i="0">
                <a:solidFill>
                  <a:srgbClr val="222222"/>
                </a:solidFill>
                <a:latin typeface="Calibri"/>
              </a:rPr>
              <a:t>, gate capped at </a:t>
            </a:r>
            <a:r>
              <a:rPr sz="2400" b="1" i="0">
                <a:solidFill>
                  <a:srgbClr val="222222"/>
                </a:solidFill>
                <a:latin typeface="Calibri"/>
              </a:rPr>
              <a:t>10</a:t>
            </a:r>
          </a:p>
          <a:p>
            <a:pPr marL="320040" indent="-292608">
              <a:spcAft>
                <a:spcPts val="1080"/>
              </a:spcAft>
              <a:buChar char="•"/>
            </a:pPr>
            <a:r>
              <a:rPr sz="2400" b="0" i="0">
                <a:solidFill>
                  <a:srgbClr val="222222"/>
                </a:solidFill>
                <a:latin typeface="Calibri"/>
              </a:rPr>
              <a:t>Used throughout V4-Flash and V4-Pro training</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The cost: an extra pass, rollbacks, no theory</a:t>
            </a:r>
          </a:p>
        </p:txBody>
      </p:sp>
      <p:sp>
        <p:nvSpPr>
          <p:cNvPr id="3" name="TextBox 2"/>
          <p:cNvSpPr txBox="1"/>
          <p:nvPr/>
        </p:nvSpPr>
        <p:spPr>
          <a:xfrm>
            <a:off x="548640" y="1463040"/>
            <a:ext cx="5318607" cy="4663440"/>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C00000"/>
                </a:solidFill>
                <a:latin typeface="Calibri"/>
              </a:rPr>
              <a:t>≈20%</a:t>
            </a:r>
            <a:r>
              <a:rPr sz="2400" b="0" i="0">
                <a:solidFill>
                  <a:srgbClr val="222222"/>
                </a:solidFill>
                <a:latin typeface="Calibri"/>
              </a:rPr>
              <a:t> extra wall-clock while active</a:t>
            </a:r>
          </a:p>
          <a:p>
            <a:pPr marL="320040" indent="-292608">
              <a:spcAft>
                <a:spcPts val="1080"/>
              </a:spcAft>
              <a:buChar char="•"/>
            </a:pPr>
            <a:r>
              <a:rPr sz="2400" b="0" i="0">
                <a:solidFill>
                  <a:srgbClr val="222222"/>
                </a:solidFill>
                <a:latin typeface="Calibri"/>
              </a:rPr>
              <a:t>Prefetch batches Δt steps ahead, cache indices</a:t>
            </a:r>
          </a:p>
          <a:p>
            <a:pPr marL="320040" indent="-292608">
              <a:spcAft>
                <a:spcPts val="1080"/>
              </a:spcAft>
              <a:buChar char="•"/>
            </a:pPr>
            <a:r>
              <a:rPr sz="2400" b="0" i="0">
                <a:solidFill>
                  <a:srgbClr val="222222"/>
                </a:solidFill>
                <a:latin typeface="Calibri"/>
              </a:rPr>
              <a:t>Needs a spike detector and rollbacks</a:t>
            </a:r>
          </a:p>
        </p:txBody>
      </p:sp>
      <p:sp>
        <p:nvSpPr>
          <p:cNvPr id="4" name="TextBox 3"/>
          <p:cNvSpPr txBox="1"/>
          <p:nvPr/>
        </p:nvSpPr>
        <p:spPr>
          <a:xfrm>
            <a:off x="6324447" y="1463040"/>
            <a:ext cx="5318607"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Δt and thresholds unpublished</a:t>
            </a:r>
          </a:p>
          <a:p>
            <a:pPr marL="320040" indent="-292608">
              <a:spcAft>
                <a:spcPts val="1080"/>
              </a:spcAft>
              <a:buChar char="•"/>
            </a:pPr>
            <a:r>
              <a:rPr sz="2400" b="0" i="0">
                <a:solidFill>
                  <a:srgbClr val="222222"/>
                </a:solidFill>
                <a:latin typeface="Calibri"/>
              </a:rPr>
              <a:t>No ablations or spike statistics</a:t>
            </a:r>
          </a:p>
          <a:p>
            <a:pPr marL="320040" indent="-292608">
              <a:spcAft>
                <a:spcPts val="1080"/>
              </a:spcAft>
              <a:buChar char="•"/>
            </a:pPr>
            <a:r>
              <a:rPr sz="2400" b="0" i="0">
                <a:solidFill>
                  <a:srgbClr val="222222"/>
                </a:solidFill>
                <a:latin typeface="Calibri"/>
              </a:rPr>
              <a:t>Why it works: still open</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Summary</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V4 loss spikes recurred after plain rollbacks</a:t>
            </a:r>
          </a:p>
          <a:p>
            <a:pPr marL="320040" indent="-292608">
              <a:spcAft>
                <a:spcPts val="1080"/>
              </a:spcAft>
              <a:buChar char="•"/>
            </a:pPr>
            <a:r>
              <a:rPr sz="2400" b="1" i="0">
                <a:solidFill>
                  <a:srgbClr val="1F4E79"/>
                </a:solidFill>
                <a:latin typeface="Calibri"/>
              </a:rPr>
              <a:t>Insight</a:t>
            </a:r>
            <a:r>
              <a:rPr sz="2400" b="0" i="0">
                <a:solidFill>
                  <a:srgbClr val="222222"/>
                </a:solidFill>
                <a:latin typeface="Calibri"/>
              </a:rPr>
              <a:t>: route with θ(t−Δt), compute with θ(t)</a:t>
            </a:r>
          </a:p>
          <a:p>
            <a:pPr marL="320040" indent="-292608">
              <a:spcAft>
                <a:spcPts val="1080"/>
              </a:spcAft>
              <a:buChar char="•"/>
            </a:pPr>
            <a:r>
              <a:rPr sz="2400" b="0" i="0">
                <a:solidFill>
                  <a:srgbClr val="222222"/>
                </a:solidFill>
                <a:latin typeface="Calibri"/>
              </a:rPr>
              <a:t>One cached routing pass, on only after spikes</a:t>
            </a:r>
          </a:p>
          <a:p>
            <a:pPr marL="320040" indent="-292608">
              <a:spcAft>
                <a:spcPts val="1080"/>
              </a:spcAft>
              <a:buChar char="•"/>
            </a:pPr>
            <a:r>
              <a:rPr sz="2400" b="1" i="0">
                <a:solidFill>
                  <a:srgbClr val="222222"/>
                </a:solidFill>
                <a:latin typeface="Calibri"/>
              </a:rPr>
              <a:t>≈20%</a:t>
            </a:r>
            <a:r>
              <a:rPr sz="2400" b="0" i="0">
                <a:solidFill>
                  <a:srgbClr val="222222"/>
                </a:solidFill>
                <a:latin typeface="Calibri"/>
              </a:rPr>
              <a:t> while on, </a:t>
            </a:r>
            <a:r>
              <a:rPr sz="2400" b="1" i="0">
                <a:solidFill>
                  <a:srgbClr val="222222"/>
                </a:solidFill>
                <a:latin typeface="Calibri"/>
              </a:rPr>
              <a:t>negligible</a:t>
            </a:r>
            <a:r>
              <a:rPr sz="2400" b="0" i="0">
                <a:solidFill>
                  <a:srgbClr val="222222"/>
                </a:solidFill>
                <a:latin typeface="Calibri"/>
              </a:rPr>
              <a:t> overall</a:t>
            </a:r>
          </a:p>
        </p:txBody>
      </p:sp>
      <p:pic>
        <p:nvPicPr>
          <p:cNvPr id="4" name="Picture 3" descr="image.png"/>
          <p:cNvPicPr>
            <a:picLocks noChangeAspect="1"/>
          </p:cNvPicPr>
          <p:nvPr/>
        </p:nvPicPr>
        <p:blipFill>
          <a:blip r:embed="rId2"/>
          <a:stretch>
            <a:fillRect/>
          </a:stretch>
        </p:blipFill>
        <p:spPr>
          <a:xfrm>
            <a:off x="9997135" y="4389120"/>
            <a:ext cx="1645920" cy="1645920"/>
          </a:xfrm>
          <a:prstGeom prst="rect">
            <a:avLst/>
          </a:prstGeom>
        </p:spPr>
      </p:pic>
      <p:sp>
        <p:nvSpPr>
          <p:cNvPr id="5" name="TextBox 4"/>
          <p:cNvSpPr txBox="1"/>
          <p:nvPr/>
        </p:nvSpPr>
        <p:spPr>
          <a:xfrm>
            <a:off x="5242255" y="6080760"/>
            <a:ext cx="6400800" cy="320040"/>
          </a:xfrm>
          <a:prstGeom prst="rect">
            <a:avLst/>
          </a:prstGeom>
          <a:noFill/>
        </p:spPr>
        <p:txBody>
          <a:bodyPr wrap="square" lIns="45720" rIns="45720" tIns="27432" bIns="27432" anchor="t">
            <a:spAutoFit/>
          </a:bodyPr>
          <a:lstStyle/>
          <a:p>
            <a:pPr algn="r"/>
            <a:r>
              <a:rPr sz="1600" b="1" i="0">
                <a:solidFill>
                  <a:srgbClr val="1F4E79"/>
                </a:solidFill>
                <a:latin typeface="Calibri"/>
              </a:rPr>
              <a:t>https://arxiv.org/abs/2606.19348</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