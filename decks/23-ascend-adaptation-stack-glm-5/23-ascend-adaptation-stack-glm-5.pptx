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 is a 744B-parameter mixture of experts with 40B active parameters and DeepSeek Sparse Attention, mid-trained out to a 200K context. Its fourth headline contribution is that it was adapted on day one to seven Chinese accelerator platforms: Huawei Ascend, Moore Threads, Hygon, Cambricon, Kunlunxin, MetaX and Enflame. Only Ascend is described in any detail, as a case study. Sources: arXiv 2602.15763 §1 p.4, §2.1 p.4, Table 10 p.36, §5 p.21.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744B parameters at two bytes each is 1,386 GiB of weights, and the Atlas 800 A3 node that the report targets holds eight NPUs with 128 GB each, so 1,024 GiB. The weights do not fit, before a single byte of KV cache for a 200K context. This number is analytic: the report publishes no memory breakdown; the derivation is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break at once. The weights overflow the node. The sparse-attention model arrives as a swarm of small pre-processing kernels that leave the matrix and vector units waiting on each other. And the tensor-parallel AllReduce inside every layer sits on the critical path of a weaker interconnect. The report makes the same point about model shape: DeepSeek-V3's head count follows the H800 roofline and is "inappropriate for other hardware", so GLM-5 raised the head dimension from 192 to 256 and cut the head count by a third to make decoding cheaper (§2.1 p.5).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report's structure is the insight: its adaptation section has exactly three pillars, and each one attacks a different resource at a different layer of the stack. Quantization buys memory, fused super-operators buy compute density, and engine-level scheduling buys back the time around them. Each pillar is a sibling deck in this series. Source: arXiv 2602.15763 §5 p.21.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top: GLM-5 itself is unchanged; its weights are stored in mixed W4A8 and W8A8 precision; vLLM-Ascend or SGLang run it with FlashComm, DP attention plus expert parallelism, prefill/decode splitting, a prefix cache and MTP; underneath, three fused CANN kernels carry the sparse-attention path; and the whole thing targets one Atlas 800 A3 node. The right-hand column names the resource each layer buys back. Deep dives: deck 44, deck 12, deck 37.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experts dominate the parameter count: 256 experts of three matrices each, over 75 MoE layers, is about 98% of all weights, so compressing them to INT4 is what moves the memory number. Attention and the dense MLP blocks, where outliers hurt most, stay at INT8. The report names msModelSlim as the tool and QuaRot plus Flex_AWQ_SSZ as the algorithms that keep low-bit deployment stable, but publishes no accuracy table. Sources: §5 p.21; expert share derived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NPU, MLA pre-processing arrives as 13 small operators; MLAPO fuses them into one super operator that keeps the Cube and Vector units busy at the same time. The Lightning Indexer folds score computation, ReLU and TopK into one kernel so that computation overlaps memory access, and the Sparse Flash Attention kernel selects the TopK tokens from the KV cache in parallel with the sparse attention itself. The report gives no per-kernel speedups. Source: §5 p.21-22.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 layer does four things: FlashComm splits the tensor-parallel AllReduce so communication hides behind computation; attention runs data-parallel while the MoE runs expert-parallel; RadixCache and a host-RAM prefix cache remove repeated prefill work; and MTP generates several tokens per step to raise compute density on the decode side. Asynchronous scheduling overlaps the device-to-host sampling copy with preparing the next decode step. Prefill/decode disaggregation is the upstream deployment recipe. Sources: §5 p.22; vLLM Ascend GLM-5 guide §5.3.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analytic bars. BF16 weights are 1,386 GiB and overshoot the node. Plain INT8 fits the weights but leaves little for the KV cache of a 200K context. The mixed W4A8 scheme lands at about 354 GiB, which is what makes a single-node deployment with long contexts plausible. These are derived numbers, not measurements; the derivation is in notes/sources.md and the report publishes no memory breakdown.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report's own closing sentence for the adaptation section: through these hardware-level co-optimizations, GLM-5 on a single Chinese node reaches performance comparable to dual-GPU international clusters while cutting long-sequence deployment cost by half. Note what is missing: which GPU, how many of them, which workload, which metric, which serving configuration. Source: arXiv 2602.15763 §5 p.22.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seven-platform claim is detailed only for Ascend Atlas. The section is about inference: quantization, kernels, engines and deployment cost; nothing in the paper says GLM-5 was pre-trained on domestic accelerators, and the training-infrastructure section talks about GPU memory and pipeline parallelism. And although the experts are pushed to INT4, no accuracy comparison for the quantized weights is published. Sources: §5 p.21-22; §2.4 p.9.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 is not only in the paper. The vLLM Ascend project publishes GLM-5 deployment guides with the same features switched on by flag: enable_flashcomm1, enable_mlapo, prefix caching, MTP with three speculative tokens, and prefill/decode disaggregation with Mooncake KV transfer. The last line is a company statement relayed by Global Times in August 2026, about a later model in the series, and it names no chip vendor; treat it as an adoption signal, not as evidence. Sources: vLLM Ascend GLM5.md (commit 8194ece); Global Times, 27 Aug 2026.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container story: one quantization pillar, one kernel-fusion pillar, one scheduling pillar, each with its own sibling deck — 44, 37 and 12. The claim that closes the section is strong and completely unqualified, so the honest summary keeps the quotation marks on it. Source: arXiv 2602.15763 §5.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Ascend Adaptation Stack</a:t>
            </a:r>
          </a:p>
          <a:p>
            <a:pPr>
              <a:spcBef>
                <a:spcPts val="600"/>
              </a:spcBef>
            </a:pPr>
            <a:r>
              <a:rPr sz="2600" b="0" i="0">
                <a:solidFill>
                  <a:srgbClr val="222222"/>
                </a:solidFill>
                <a:latin typeface="Calibri"/>
              </a:rPr>
              <a:t>Serving a 744B MoE on one domestic node</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Zhipu AI &amp; Tsinghua · GLM-5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Frameworks &amp; Platform Stacks · arxiv.org/abs/2602.15763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 ships day one on seven domestic platforms</a:t>
            </a:r>
          </a:p>
        </p:txBody>
      </p:sp>
      <p:pic>
        <p:nvPicPr>
          <p:cNvPr id="3" name="Picture 2" descr="fig_platforms.png"/>
          <p:cNvPicPr>
            <a:picLocks noChangeAspect="1"/>
          </p:cNvPicPr>
          <p:nvPr/>
        </p:nvPicPr>
        <p:blipFill>
          <a:blip r:embed="rId2"/>
          <a:stretch>
            <a:fillRect/>
          </a:stretch>
        </p:blipFill>
        <p:spPr>
          <a:xfrm>
            <a:off x="5541126" y="1859304"/>
            <a:ext cx="6101928" cy="3870910"/>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744B</a:t>
            </a:r>
            <a:r>
              <a:rPr sz="2400" b="0" i="0">
                <a:solidFill>
                  <a:srgbClr val="222222"/>
                </a:solidFill>
                <a:latin typeface="Calibri"/>
              </a:rPr>
              <a:t> MoE, </a:t>
            </a:r>
            <a:r>
              <a:rPr sz="2400" b="1" i="0">
                <a:solidFill>
                  <a:srgbClr val="222222"/>
                </a:solidFill>
                <a:latin typeface="Calibri"/>
              </a:rPr>
              <a:t>40B</a:t>
            </a:r>
            <a:r>
              <a:rPr sz="2400" b="0" i="0">
                <a:solidFill>
                  <a:srgbClr val="222222"/>
                </a:solidFill>
                <a:latin typeface="Calibri"/>
              </a:rPr>
              <a:t> active, </a:t>
            </a:r>
            <a:r>
              <a:rPr sz="2400" b="1" i="0">
                <a:solidFill>
                  <a:srgbClr val="222222"/>
                </a:solidFill>
                <a:latin typeface="Calibri"/>
              </a:rPr>
              <a:t>256</a:t>
            </a:r>
            <a:r>
              <a:rPr sz="2400" b="0" i="0">
                <a:solidFill>
                  <a:srgbClr val="222222"/>
                </a:solidFill>
                <a:latin typeface="Calibri"/>
              </a:rPr>
              <a:t> experts</a:t>
            </a:r>
          </a:p>
          <a:p>
            <a:pPr marL="320040" indent="-292608">
              <a:spcAft>
                <a:spcPts val="1080"/>
              </a:spcAft>
              <a:buChar char="•"/>
            </a:pPr>
            <a:r>
              <a:rPr sz="2400" b="0" i="0">
                <a:solidFill>
                  <a:srgbClr val="222222"/>
                </a:solidFill>
                <a:latin typeface="Calibri"/>
              </a:rPr>
              <a:t>DSA sparse attention, mid-trained to </a:t>
            </a:r>
            <a:r>
              <a:rPr sz="2400" b="1" i="0">
                <a:solidFill>
                  <a:srgbClr val="222222"/>
                </a:solidFill>
                <a:latin typeface="Calibri"/>
              </a:rPr>
              <a:t>200K</a:t>
            </a:r>
            <a:r>
              <a:rPr sz="2400" b="0" i="0">
                <a:solidFill>
                  <a:srgbClr val="222222"/>
                </a:solidFill>
                <a:latin typeface="Calibri"/>
              </a:rPr>
              <a:t> context</a:t>
            </a:r>
          </a:p>
          <a:p>
            <a:pPr marL="320040" indent="-292608">
              <a:spcAft>
                <a:spcPts val="1080"/>
              </a:spcAft>
              <a:buChar char="•"/>
            </a:pPr>
            <a:r>
              <a:rPr sz="2400" b="0" i="0">
                <a:solidFill>
                  <a:srgbClr val="222222"/>
                </a:solidFill>
                <a:latin typeface="Calibri"/>
              </a:rPr>
              <a:t>Ascend Atlas is the report's worked example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weights alone outgrow the node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1.4 TiB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GLM-5 weights at BF16 — one Atlas 800 A3 node holds 1.0 TiB (8 × 128 GB)</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Analytic, derived from the architecture in arXiv 2602.15763 Table 10 (p.36); node memory from the vLLM Ascend GLM-5 deployment guide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GPU-shaped stack does not land unchanged</a:t>
            </a:r>
          </a:p>
        </p:txBody>
      </p:sp>
      <p:pic>
        <p:nvPicPr>
          <p:cNvPr id="3" name="Picture 2" descr="fig_mismatch.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Memory, compute units and the fabric run out at the same time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three layers, three different resources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port cannot fix memory, compute density and exposed time at once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three layers, three different resources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port cannot fix memory, compute density and exposed time at once</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Quantize the weights, fuse the kernels, schedule around what is left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stack: quantize, fuse, schedule</a:t>
            </a:r>
          </a:p>
        </p:txBody>
      </p:sp>
      <p:pic>
        <p:nvPicPr>
          <p:cNvPr id="3" name="Picture 2" descr="fig_stack.png"/>
          <p:cNvPicPr>
            <a:picLocks noChangeAspect="1"/>
          </p:cNvPicPr>
          <p:nvPr/>
        </p:nvPicPr>
        <p:blipFill>
          <a:blip r:embed="rId2"/>
          <a:stretch>
            <a:fillRect/>
          </a:stretch>
        </p:blipFill>
        <p:spPr>
          <a:xfrm>
            <a:off x="548640" y="1508927"/>
            <a:ext cx="11094415" cy="4571664"/>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Mixed INT4/INT8 weights fit one node</a:t>
            </a:r>
          </a:p>
        </p:txBody>
      </p:sp>
      <p:pic>
        <p:nvPicPr>
          <p:cNvPr id="3" name="Picture 2" descr="fig_quant.png"/>
          <p:cNvPicPr>
            <a:picLocks noChangeAspect="1"/>
          </p:cNvPicPr>
          <p:nvPr/>
        </p:nvPicPr>
        <p:blipFill>
          <a:blip r:embed="rId2"/>
          <a:stretch>
            <a:fillRect/>
          </a:stretch>
        </p:blipFill>
        <p:spPr>
          <a:xfrm>
            <a:off x="5541126" y="1666890"/>
            <a:ext cx="6101928" cy="3889979"/>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 dive: deck 44 · expert share derived from Table 10</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Experts — about </a:t>
            </a:r>
            <a:r>
              <a:rPr sz="2400" b="1" i="0">
                <a:solidFill>
                  <a:srgbClr val="222222"/>
                </a:solidFill>
                <a:latin typeface="Calibri"/>
              </a:rPr>
              <a:t>98%</a:t>
            </a:r>
            <a:r>
              <a:rPr sz="2400" b="0" i="0">
                <a:solidFill>
                  <a:srgbClr val="222222"/>
                </a:solidFill>
                <a:latin typeface="Calibri"/>
              </a:rPr>
              <a:t> of weights — go to </a:t>
            </a:r>
            <a:r>
              <a:rPr sz="2400" b="1" i="0">
                <a:solidFill>
                  <a:srgbClr val="222222"/>
                </a:solidFill>
                <a:latin typeface="Calibri"/>
              </a:rPr>
              <a:t>W4A8</a:t>
            </a:r>
          </a:p>
          <a:p>
            <a:pPr marL="320040" indent="-292608">
              <a:spcAft>
                <a:spcPts val="1080"/>
              </a:spcAft>
              <a:buChar char="•"/>
            </a:pPr>
            <a:r>
              <a:rPr sz="2400" b="0" i="0">
                <a:solidFill>
                  <a:srgbClr val="222222"/>
                </a:solidFill>
                <a:latin typeface="Calibri"/>
              </a:rPr>
              <a:t>Attention and dense MLP stay at </a:t>
            </a:r>
            <a:r>
              <a:rPr sz="2400" b="1" i="0">
                <a:solidFill>
                  <a:srgbClr val="222222"/>
                </a:solidFill>
                <a:latin typeface="Calibri"/>
              </a:rPr>
              <a:t>W8A8</a:t>
            </a:r>
          </a:p>
          <a:p>
            <a:pPr marL="320040" indent="-292608">
              <a:spcAft>
                <a:spcPts val="1080"/>
              </a:spcAft>
              <a:buChar char="•"/>
            </a:pPr>
            <a:r>
              <a:rPr sz="2400" b="0" i="0">
                <a:solidFill>
                  <a:srgbClr val="222222"/>
                </a:solidFill>
                <a:latin typeface="Calibri"/>
              </a:rPr>
              <a:t>QuaRot and AWQ-style calibration hold the accuracy</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Super-operators replace kernel swarms</a:t>
            </a:r>
          </a:p>
        </p:txBody>
      </p:sp>
      <p:pic>
        <p:nvPicPr>
          <p:cNvPr id="3" name="Picture 2" descr="fig_fuse.png"/>
          <p:cNvPicPr>
            <a:picLocks noChangeAspect="1"/>
          </p:cNvPicPr>
          <p:nvPr/>
        </p:nvPicPr>
        <p:blipFill>
          <a:blip r:embed="rId2"/>
          <a:stretch>
            <a:fillRect/>
          </a:stretch>
        </p:blipFill>
        <p:spPr>
          <a:xfrm>
            <a:off x="5541126" y="1705027"/>
            <a:ext cx="6101928" cy="3813705"/>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 dive: deck 37 · the fused kernels of §5</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MLAPO</a:t>
            </a:r>
            <a:r>
              <a:rPr sz="2400" b="0" i="0">
                <a:solidFill>
                  <a:srgbClr val="222222"/>
                </a:solidFill>
                <a:latin typeface="Calibri"/>
              </a:rPr>
              <a:t>: </a:t>
            </a:r>
            <a:r>
              <a:rPr sz="2400" b="1" i="0">
                <a:solidFill>
                  <a:srgbClr val="222222"/>
                </a:solidFill>
                <a:latin typeface="Calibri"/>
              </a:rPr>
              <a:t>13</a:t>
            </a:r>
            <a:r>
              <a:rPr sz="2400" b="0" i="0">
                <a:solidFill>
                  <a:srgbClr val="222222"/>
                </a:solidFill>
                <a:latin typeface="Calibri"/>
              </a:rPr>
              <a:t> pre-processing operators in one kernel</a:t>
            </a:r>
          </a:p>
          <a:p>
            <a:pPr marL="320040" indent="-292608">
              <a:spcAft>
                <a:spcPts val="1080"/>
              </a:spcAft>
              <a:buChar char="•"/>
            </a:pPr>
            <a:r>
              <a:rPr sz="2400" b="1" i="0">
                <a:solidFill>
                  <a:srgbClr val="222222"/>
                </a:solidFill>
                <a:latin typeface="Calibri"/>
              </a:rPr>
              <a:t>Lightning Indexer</a:t>
            </a:r>
            <a:r>
              <a:rPr sz="2400" b="0" i="0">
                <a:solidFill>
                  <a:srgbClr val="222222"/>
                </a:solidFill>
                <a:latin typeface="Calibri"/>
              </a:rPr>
              <a:t>: score, ReLU and TopK fused</a:t>
            </a:r>
          </a:p>
          <a:p>
            <a:pPr marL="320040" indent="-292608">
              <a:spcAft>
                <a:spcPts val="1080"/>
              </a:spcAft>
              <a:buChar char="•"/>
            </a:pPr>
            <a:r>
              <a:rPr sz="2400" b="1" i="0">
                <a:solidFill>
                  <a:srgbClr val="222222"/>
                </a:solidFill>
                <a:latin typeface="Calibri"/>
              </a:rPr>
              <a:t>Sparse Flash Attention</a:t>
            </a:r>
            <a:r>
              <a:rPr sz="2400" b="0" i="0">
                <a:solidFill>
                  <a:srgbClr val="222222"/>
                </a:solidFill>
                <a:latin typeface="Calibri"/>
              </a:rPr>
              <a:t>: TopK selection beside the attention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Scheduling hides what is left</a:t>
            </a:r>
          </a:p>
        </p:txBody>
      </p:sp>
      <p:pic>
        <p:nvPicPr>
          <p:cNvPr id="3" name="Picture 2" descr="fig_sched.png"/>
          <p:cNvPicPr>
            <a:picLocks noChangeAspect="1"/>
          </p:cNvPicPr>
          <p:nvPr/>
        </p:nvPicPr>
        <p:blipFill>
          <a:blip r:embed="rId2"/>
          <a:stretch>
            <a:fillRect/>
          </a:stretch>
        </p:blipFill>
        <p:spPr>
          <a:xfrm>
            <a:off x="548640" y="1813819"/>
            <a:ext cx="11094415" cy="359612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 dive: deck 12 · FlashComm splits AllReduce; prefix cache, MTP and async scheduling fill the gaps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Only INT4 experts fit 744B on one node</a:t>
            </a:r>
          </a:p>
        </p:txBody>
      </p:sp>
      <p:pic>
        <p:nvPicPr>
          <p:cNvPr id="3" name="Picture 2" descr="weight_memory.png"/>
          <p:cNvPicPr>
            <a:picLocks noChangeAspect="1"/>
          </p:cNvPicPr>
          <p:nvPr/>
        </p:nvPicPr>
        <p:blipFill>
          <a:blip r:embed="rId2"/>
          <a:stretch>
            <a:fillRect/>
          </a:stretch>
        </p:blipFill>
        <p:spPr>
          <a:xfrm>
            <a:off x="5015877" y="1463040"/>
            <a:ext cx="6597707"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from Table 10; excludes quantization scales, KV cache and activations</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BF16: </a:t>
            </a:r>
            <a:r>
              <a:rPr sz="2400" b="1" i="0">
                <a:solidFill>
                  <a:srgbClr val="222222"/>
                </a:solidFill>
                <a:latin typeface="Calibri"/>
              </a:rPr>
              <a:t>1,386 GiB</a:t>
            </a:r>
            <a:r>
              <a:rPr sz="2400" b="0" i="0">
                <a:solidFill>
                  <a:srgbClr val="222222"/>
                </a:solidFill>
                <a:latin typeface="Calibri"/>
              </a:rPr>
              <a:t> against </a:t>
            </a:r>
            <a:r>
              <a:rPr sz="2400" b="1" i="0">
                <a:solidFill>
                  <a:srgbClr val="222222"/>
                </a:solidFill>
                <a:latin typeface="Calibri"/>
              </a:rPr>
              <a:t>1,024 GiB</a:t>
            </a:r>
            <a:r>
              <a:rPr sz="2400" b="0" i="0">
                <a:solidFill>
                  <a:srgbClr val="222222"/>
                </a:solidFill>
                <a:latin typeface="Calibri"/>
              </a:rPr>
              <a:t> of node memory</a:t>
            </a:r>
          </a:p>
          <a:p>
            <a:pPr marL="320040" indent="-292608">
              <a:spcAft>
                <a:spcPts val="1080"/>
              </a:spcAft>
              <a:buChar char="•"/>
            </a:pPr>
            <a:r>
              <a:rPr sz="2400" b="0" i="0">
                <a:solidFill>
                  <a:srgbClr val="222222"/>
                </a:solidFill>
                <a:latin typeface="Calibri"/>
              </a:rPr>
              <a:t>W4A8: </a:t>
            </a:r>
            <a:r>
              <a:rPr sz="2400" b="1" i="0">
                <a:solidFill>
                  <a:srgbClr val="222222"/>
                </a:solidFill>
                <a:latin typeface="Calibri"/>
              </a:rPr>
              <a:t>354 GiB</a:t>
            </a:r>
            <a:r>
              <a:rPr sz="2400" b="0" i="0">
                <a:solidFill>
                  <a:srgbClr val="222222"/>
                </a:solidFill>
                <a:latin typeface="Calibri"/>
              </a:rPr>
              <a:t>, leaving room for a 200K KV cache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 claims one node and half the cost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domestic node reported "comparable to dual-GPU international clusters"</a:t>
            </a:r>
          </a:p>
          <a:p>
            <a:pPr marL="320040" indent="-292608">
              <a:spcAft>
                <a:spcPts val="1080"/>
              </a:spcAft>
              <a:buChar char="•"/>
            </a:pPr>
            <a:r>
              <a:rPr sz="2400" b="1" i="0">
                <a:solidFill>
                  <a:srgbClr val="222222"/>
                </a:solidFill>
                <a:latin typeface="Calibri"/>
              </a:rPr>
              <a:t>50%</a:t>
            </a:r>
            <a:r>
              <a:rPr sz="2400" b="0" i="0">
                <a:solidFill>
                  <a:srgbClr val="222222"/>
                </a:solidFill>
                <a:latin typeface="Calibri"/>
              </a:rPr>
              <a:t> lower deployment cost in long-sequence scenarios</a:t>
            </a:r>
          </a:p>
          <a:p>
            <a:pPr marL="320040" indent="-292608">
              <a:spcAft>
                <a:spcPts val="1080"/>
              </a:spcAft>
              <a:buChar char="•"/>
            </a:pPr>
            <a:r>
              <a:rPr sz="2400" b="1" i="0">
                <a:solidFill>
                  <a:srgbClr val="C00000"/>
                </a:solidFill>
                <a:latin typeface="Calibri"/>
              </a:rPr>
              <a:t>No baseline GPU, benchmark or metric is named</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Both numbers close §5 with no table behind them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What the report does not tell you</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Ascend only</a:t>
            </a:r>
            <a:r>
              <a:rPr sz="2400" b="0" i="0">
                <a:solidFill>
                  <a:srgbClr val="222222"/>
                </a:solidFill>
                <a:latin typeface="Calibri"/>
              </a:rPr>
              <a:t> of the seven platforms</a:t>
            </a:r>
          </a:p>
          <a:p>
            <a:pPr marL="320040" indent="-292608">
              <a:spcAft>
                <a:spcPts val="1080"/>
              </a:spcAft>
              <a:buChar char="•"/>
            </a:pPr>
            <a:r>
              <a:rPr sz="2400" b="1" i="0">
                <a:solidFill>
                  <a:srgbClr val="C00000"/>
                </a:solidFill>
                <a:latin typeface="Calibri"/>
              </a:rPr>
              <a:t>No per-pillar</a:t>
            </a:r>
            <a:r>
              <a:rPr sz="2400" b="0" i="0">
                <a:solidFill>
                  <a:srgbClr val="222222"/>
                </a:solidFill>
                <a:latin typeface="Calibri"/>
              </a:rPr>
              <a:t> attribution of the gain</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Deployment only; training hardware unstated</a:t>
            </a:r>
          </a:p>
          <a:p>
            <a:pPr marL="320040" indent="-292608">
              <a:spcAft>
                <a:spcPts val="1080"/>
              </a:spcAft>
              <a:buChar char="•"/>
            </a:pPr>
            <a:r>
              <a:rPr sz="2400" b="0" i="0">
                <a:solidFill>
                  <a:srgbClr val="222222"/>
                </a:solidFill>
                <a:latin typeface="Calibri"/>
              </a:rPr>
              <a:t>No accuracy table for the W4A8 weights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Read §5 as an engineering recipe, not as an evaluation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recipes are upstream already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vLLM Ascend documents GLM-5 </a:t>
            </a:r>
            <a:r>
              <a:rPr sz="2400" b="1" i="0">
                <a:solidFill>
                  <a:srgbClr val="222222"/>
                </a:solidFill>
                <a:latin typeface="Calibri"/>
              </a:rPr>
              <a:t>w4a8</a:t>
            </a:r>
            <a:r>
              <a:rPr sz="2400" b="0" i="0">
                <a:solidFill>
                  <a:srgbClr val="222222"/>
                </a:solidFill>
                <a:latin typeface="Calibri"/>
              </a:rPr>
              <a:t> and </a:t>
            </a:r>
            <a:r>
              <a:rPr sz="2400" b="1" i="0">
                <a:solidFill>
                  <a:srgbClr val="222222"/>
                </a:solidFill>
                <a:latin typeface="Calibri"/>
              </a:rPr>
              <a:t>w8a8</a:t>
            </a:r>
            <a:r>
              <a:rPr sz="2400" b="0" i="0">
                <a:solidFill>
                  <a:srgbClr val="222222"/>
                </a:solidFill>
                <a:latin typeface="Calibri"/>
              </a:rPr>
              <a:t> recipes for one Atlas 800 A3 node</a:t>
            </a:r>
          </a:p>
          <a:p>
            <a:pPr marL="320040" indent="-292608">
              <a:spcAft>
                <a:spcPts val="1080"/>
              </a:spcAft>
              <a:buChar char="•"/>
            </a:pPr>
            <a:r>
              <a:rPr sz="2400" b="0" i="0">
                <a:solidFill>
                  <a:srgbClr val="222222"/>
                </a:solidFill>
                <a:latin typeface="Calibri"/>
              </a:rPr>
              <a:t>Reference configs: </a:t>
            </a:r>
            <a:r>
              <a:rPr sz="2400" b="1" i="0">
                <a:solidFill>
                  <a:srgbClr val="222222"/>
                </a:solidFill>
                <a:latin typeface="Calibri"/>
              </a:rPr>
              <a:t>198K</a:t>
            </a:r>
            <a:r>
              <a:rPr sz="2400" b="0" i="0">
                <a:solidFill>
                  <a:srgbClr val="222222"/>
                </a:solidFill>
                <a:latin typeface="Calibri"/>
              </a:rPr>
              <a:t> context, prefill/decode split, </a:t>
            </a:r>
            <a:r>
              <a:rPr sz="2400" b="1" i="0">
                <a:solidFill>
                  <a:srgbClr val="222222"/>
                </a:solidFill>
                <a:latin typeface="Calibri"/>
              </a:rPr>
              <a:t>3</a:t>
            </a:r>
            <a:r>
              <a:rPr sz="2400" b="0" i="0">
                <a:solidFill>
                  <a:srgbClr val="222222"/>
                </a:solidFill>
                <a:latin typeface="Calibri"/>
              </a:rPr>
              <a:t> MTP drafts</a:t>
            </a:r>
          </a:p>
          <a:p>
            <a:pPr marL="320040" indent="-292608">
              <a:spcAft>
                <a:spcPts val="1080"/>
              </a:spcAft>
              <a:buChar char="•"/>
            </a:pPr>
            <a:r>
              <a:rPr sz="2400" b="0" i="0">
                <a:solidFill>
                  <a:srgbClr val="222222"/>
                </a:solidFill>
                <a:latin typeface="Calibri"/>
              </a:rPr>
              <a:t>Press: a later GLM-5.3-Flash is claimed to run on </a:t>
            </a:r>
            <a:r>
              <a:rPr sz="2400" b="1" i="0">
                <a:solidFill>
                  <a:srgbClr val="222222"/>
                </a:solidFill>
                <a:latin typeface="Calibri"/>
              </a:rPr>
              <a:t>100,000</a:t>
            </a:r>
            <a:r>
              <a:rPr sz="2400" b="0" i="0">
                <a:solidFill>
                  <a:srgbClr val="222222"/>
                </a:solidFill>
                <a:latin typeface="Calibri"/>
              </a:rPr>
              <a:t> domestic chips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GLM-5 weights: </a:t>
            </a:r>
            <a:r>
              <a:rPr sz="2400" b="1" i="0">
                <a:solidFill>
                  <a:srgbClr val="222222"/>
                </a:solidFill>
                <a:latin typeface="Calibri"/>
              </a:rPr>
              <a:t>1,386 GiB</a:t>
            </a:r>
            <a:r>
              <a:rPr sz="2400" b="0" i="0">
                <a:solidFill>
                  <a:srgbClr val="222222"/>
                </a:solidFill>
                <a:latin typeface="Calibri"/>
              </a:rPr>
              <a:t> at BF16 against </a:t>
            </a:r>
            <a:r>
              <a:rPr sz="2400" b="1" i="0">
                <a:solidFill>
                  <a:srgbClr val="222222"/>
                </a:solidFill>
                <a:latin typeface="Calibri"/>
              </a:rPr>
              <a:t>1,024 GiB</a:t>
            </a:r>
            <a:r>
              <a:rPr sz="2400" b="0" i="0">
                <a:solidFill>
                  <a:srgbClr val="222222"/>
                </a:solidFill>
                <a:latin typeface="Calibri"/>
              </a:rPr>
              <a:t> per node (analytic)</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memory, compute density and exposed time each need their own layer</a:t>
            </a:r>
          </a:p>
          <a:p>
            <a:pPr marL="320040" indent="-292608">
              <a:spcAft>
                <a:spcPts val="1080"/>
              </a:spcAft>
              <a:buChar char="•"/>
            </a:pPr>
            <a:r>
              <a:rPr sz="2400" b="1" i="0">
                <a:solidFill>
                  <a:srgbClr val="222222"/>
                </a:solidFill>
                <a:latin typeface="Calibri"/>
              </a:rPr>
              <a:t>W4A8</a:t>
            </a:r>
            <a:r>
              <a:rPr sz="2400" b="0" i="0">
                <a:solidFill>
                  <a:srgbClr val="222222"/>
                </a:solidFill>
                <a:latin typeface="Calibri"/>
              </a:rPr>
              <a:t> experts · </a:t>
            </a:r>
            <a:r>
              <a:rPr sz="2400" b="1" i="0">
                <a:solidFill>
                  <a:srgbClr val="222222"/>
                </a:solidFill>
                <a:latin typeface="Calibri"/>
              </a:rPr>
              <a:t>MLAPO</a:t>
            </a:r>
            <a:r>
              <a:rPr sz="2400" b="0" i="0">
                <a:solidFill>
                  <a:srgbClr val="222222"/>
                </a:solidFill>
                <a:latin typeface="Calibri"/>
              </a:rPr>
              <a:t> super-operators · FlashComm and PD scheduling</a:t>
            </a:r>
          </a:p>
          <a:p>
            <a:pPr marL="320040" indent="-292608">
              <a:spcAft>
                <a:spcPts val="1080"/>
              </a:spcAft>
              <a:buChar char="•"/>
            </a:pPr>
            <a:r>
              <a:rPr sz="2400" b="0" i="0">
                <a:solidFill>
                  <a:srgbClr val="222222"/>
                </a:solidFill>
                <a:latin typeface="Calibri"/>
              </a:rPr>
              <a:t>Report claims one domestic node and </a:t>
            </a:r>
            <a:r>
              <a:rPr sz="2400" b="1" i="0">
                <a:solidFill>
                  <a:srgbClr val="222222"/>
                </a:solidFill>
                <a:latin typeface="Calibri"/>
              </a:rPr>
              <a:t>50%</a:t>
            </a:r>
            <a:r>
              <a:rPr sz="2400" b="0" i="0">
                <a:solidFill>
                  <a:srgbClr val="222222"/>
                </a:solidFill>
                <a:latin typeface="Calibri"/>
              </a:rPr>
              <a:t> lower long-sequence cost, unqualified</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https://arxiv.org/abs/2602.15763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