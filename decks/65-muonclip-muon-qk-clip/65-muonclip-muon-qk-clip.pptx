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Moonshot's Moonlight work showed that Muon, with weight decay and an update RMS matched to AdamW, reaches the same loss as AdamW with about 52% of the training FLOPs in a compute-optimal scaling law, roughly 2 times the efficiency. Kimi K2 bets its whole 15.5T-token pretraining on that: a 1.04T-parameter MoE with 32.6B active parameters and multi-head latent attention in all 61 layers, 64 heads each. Sources: Moonlight arXiv 2502.16982 abstract and Fig. 1a; K2 Table 2 and §2.5.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Muon up exposed one failure. In a mid-scale MoE with 53B total and 9B active parameters, the largest pre-softmax attention score quickly passes 1000, and the report says logits at that level usually bring significant loss spikes and occasional divergence. It happens more often with Muon than with AdamW in Moonshot's experiments. Source: K2 §2.1, Fig. 2 left.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logit is bounded by the input norms times the spectral norms of W_q and W_k. RMSNorm keeps the inputs bounded, so an exploding logit means those spectral norms grew. K2's appendix gives a hypothesis for why Muon does this more than Adam: a Muon update has all singular values equal, a full-rank update, while Adam's update is dominated by a few directions. A full-rank update is more likely to line up with the weight's own singular directions and push singular values up additively, and because the logit uses the product W_q W_k transpose, growth in either matrix compounds. Sources: K2 App. E, Eq. 2 to 6; bars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known fixes do not fit. A logit soft-cap squashes the score after the dot product is formed, so the query-key products and the weights behind them can still grow underneath the cap. QK-Norm normalizes per-head queries and keys, but MLA caches only a compressed latent and one shared rotary key and never builds per-head keys at inference, so there is nothing to normalize. GLM-4.5, which uses grouped-query attention, does use QK-Norm with Muon; that alternative is deck 66. Sources: K2 §2.1 p.3; DeepSeek-V3 §2.1.1; GLM-4.5 §2.1.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facts make the fix cheap and exact. First, a logit is q dot k, which is bilinear in the two weight matrices: multiply both by the square root of gamma and every logit of that head is multiplied by exactly gamma. Second, the forward pass already finds the maximum logit of every head for the softmax. So instead of touching activations, QK-Clip uses that measured maximum to shrink the weights of the offending heads right after the optimizer update. Source: K2 §2.1.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training step. The forward pass computes logits per head and records S_max for each head, the maximum over the whole batch. Backward produces gradients as usual. The optimizer then applies the Muon update to every matrix, and immediately after it QK-Clip rescales the query and key weights of every head whose S_max exceeded the threshold tau. The next step's forward sees the clipped weights. Source: K2 §2.1 and Algorithm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naive version computes one gamma from the hottest head in the model and scales every head by it, which also shrinks heads that were perfectly healthy. Moonshot observed that only a small subset of heads explodes, so QK-Clip computes gamma per head, the minimum of one and tau over that head's S_max. Heads below tau get gamma equal to one and are not touched at all. The report frames this as minimal intervention, avoiding over-regularization of other heads. Sources: K2 §2.1 p.3, App. 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MLA a head's query has a content part q_C and a rotary part q_R; its key has a head-specific content part k_C and a rotary key k_R that one projection produces for all heads. Scaling W_qc and W_kc by the square root of gamma shrinks the content term by gamma. The rotary key cannot be touched without affecting every other head, so the whole factor gamma goes onto W_qr. Both terms shrink by gamma, so the head's logit shrinks by exactly gamma. Sources: K2 §2.1 and Algorithm 1 lines 13-15; DeepSeek-V3 §2.1.1.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K2's Algorithm 1, paraphrased. The Muon part is momentum, Newton-Schulz orthogonalization, scaling by 0.2 times the square root of the larger matrix dimension so the update RMS matches AdamW's and AdamW learning rates carry over, then decoupled weight decay. The QK-Clip part reuses S_max from the forward pass and touches only the attention projections of heads above tau. It does not change the current step's forward or backward computation; it acts on the weights the next step will use. Sources: K2 Algorithm 1, §2.1; Moonlight §2.2.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currency as the pain slide. With vanilla Muon the 53B mid-scale MoE passes 1000; Kimi K2 with MuonClip and tau equal to 100 rises to the cap of 100 and is held there, then after about 30% of training steps the maximum logits decay into a normal range on their own, without any change to tau. The two runs differ in scale, and the first bar only says "more than 1000". Source: K2 §2.1 and Fig. 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result: the per-step training loss of Kimi K2 over all 15.5 trillion tokens, plotted without smoothing or sub-sampling, shows no spikes. Source: K2 abstract, §2.1, Fig.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QK-Clip was transient. In the first 70,000 steps, 12.7% of K2's attention heads, about 500 of 3,904, triggered it at least once; after that every head stayed below 100 and the clip never fired again. 70K steps at 67M tokens per step is about 4.7T tokens, 30% of the run, consistent with Fig. 2. A small ablation with an aggressive tau of 30 on a 0.5B-active, 3B-total MoE showed negligible effect on the loss curve and no statistically significant downstream degradation. Sources: K2 App. D, Fig. 12; §2.5 for the batch size.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QK-Clip adds a threshold; K2 used 100 and the ablation 30, and the report gives no sweep. It is a post-hoc correction: the step in which a head first exceeds tau runs with the large logit, and the clip affects the following steps. S_max is defined over the whole batch, which implies that a distributed implementation must combine each head's maximum across data-parallel shards (our reading of the definition). The evidence that clipping does not hurt quality is one small-scale ablation plus the fact that it switched itself off in K2; there is no full-scale ablation. For grouped-query or standard attention, QK-Norm, as in GLM-4.5, is the simpler fix (deck 66). Kimi K3 keeps K2's weight clipping and adds per-head Muon orthogonalization. Muon at scale: deck 64. Sources: K2 §2.1, App. D; GLM-4.5 §2.1; K3 §2.5, §3.3.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MuonClip keeps Muon's roughly 2 times token efficiency and removes its logit-explosion failure with a small, exact, self-deactivating weight rescale, adapted to MLA's shared rotary key. Related decks: 64 (distributed Muon at scale), 66 (QK-Norm, the activation-side alternative), 06 (K2's schedule and context extension). Sources: K2 §2.1, App. D, Fig. 2-3; Moonlight.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MuonClip (Muon + QK-Clip)</a:t>
            </a:r>
          </a:p>
          <a:p>
            <a:pPr>
              <a:spcBef>
                <a:spcPts val="600"/>
              </a:spcBef>
            </a:pPr>
            <a:r>
              <a:rPr sz="2600" b="0" i="0">
                <a:solidFill>
                  <a:srgbClr val="222222"/>
                </a:solidFill>
                <a:latin typeface="Calibri"/>
              </a:rPr>
              <a:t>Cap attention logits by rescaling Q/K weights after each step</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Moonshot AI · Kimi K2</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Optimizer &amp; Stability · arxiv.org/abs/2507.20534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Muon matches AdamW with half the FLOPs</a:t>
            </a:r>
          </a:p>
        </p:txBody>
      </p:sp>
      <p:pic>
        <p:nvPicPr>
          <p:cNvPr id="3" name="Picture 2" descr="chart_muon.png"/>
          <p:cNvPicPr>
            <a:picLocks noChangeAspect="1"/>
          </p:cNvPicPr>
          <p:nvPr/>
        </p:nvPicPr>
        <p:blipFill>
          <a:blip r:embed="rId2"/>
          <a:stretch>
            <a:fillRect/>
          </a:stretch>
        </p:blipFill>
        <p:spPr>
          <a:xfrm>
            <a:off x="6650568" y="2090802"/>
            <a:ext cx="4992486" cy="3407914"/>
          </a:xfrm>
          <a:prstGeom prst="rect">
            <a:avLst/>
          </a:prstGeom>
        </p:spPr>
      </p:pic>
      <p:sp>
        <p:nvSpPr>
          <p:cNvPr id="4" name="TextBox 3"/>
          <p:cNvSpPr txBox="1"/>
          <p:nvPr/>
        </p:nvSpPr>
        <p:spPr>
          <a:xfrm>
            <a:off x="548640" y="1463040"/>
            <a:ext cx="5736168"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Kimi K2: </a:t>
            </a:r>
            <a:r>
              <a:rPr sz="2400" b="1" i="0">
                <a:solidFill>
                  <a:srgbClr val="222222"/>
                </a:solidFill>
                <a:latin typeface="Calibri"/>
              </a:rPr>
              <a:t>1.04T</a:t>
            </a:r>
            <a:r>
              <a:rPr sz="2400" b="0" i="0">
                <a:solidFill>
                  <a:srgbClr val="222222"/>
                </a:solidFill>
                <a:latin typeface="Calibri"/>
              </a:rPr>
              <a:t> MoE, </a:t>
            </a:r>
            <a:r>
              <a:rPr sz="2400" b="1" i="0">
                <a:solidFill>
                  <a:srgbClr val="222222"/>
                </a:solidFill>
                <a:latin typeface="Calibri"/>
              </a:rPr>
              <a:t>32.6B</a:t>
            </a:r>
            <a:r>
              <a:rPr sz="2400" b="0" i="0">
                <a:solidFill>
                  <a:srgbClr val="222222"/>
                </a:solidFill>
                <a:latin typeface="Calibri"/>
              </a:rPr>
              <a:t> active</a:t>
            </a:r>
          </a:p>
          <a:p>
            <a:pPr marL="320040" indent="-292608">
              <a:spcAft>
                <a:spcPts val="1080"/>
              </a:spcAft>
              <a:buChar char="•"/>
            </a:pPr>
            <a:r>
              <a:rPr sz="2400" b="1" i="0">
                <a:solidFill>
                  <a:srgbClr val="222222"/>
                </a:solidFill>
                <a:latin typeface="Calibri"/>
              </a:rPr>
              <a:t>15.5T</a:t>
            </a:r>
            <a:r>
              <a:rPr sz="2400" b="0" i="0">
                <a:solidFill>
                  <a:srgbClr val="222222"/>
                </a:solidFill>
                <a:latin typeface="Calibri"/>
              </a:rPr>
              <a:t> tokens, all with Muon</a:t>
            </a:r>
          </a:p>
          <a:p>
            <a:pPr marL="320040" indent="-292608">
              <a:spcAft>
                <a:spcPts val="1080"/>
              </a:spcAft>
              <a:buChar char="•"/>
            </a:pPr>
            <a:r>
              <a:rPr sz="2400" b="0" i="0">
                <a:solidFill>
                  <a:srgbClr val="222222"/>
                </a:solidFill>
                <a:latin typeface="Calibri"/>
              </a:rPr>
              <a:t>MLA attention: </a:t>
            </a:r>
            <a:r>
              <a:rPr sz="2400" b="1" i="0">
                <a:solidFill>
                  <a:srgbClr val="222222"/>
                </a:solidFill>
                <a:latin typeface="Calibri"/>
              </a:rPr>
              <a:t>61</a:t>
            </a:r>
            <a:r>
              <a:rPr sz="2400" b="0" i="0">
                <a:solidFill>
                  <a:srgbClr val="222222"/>
                </a:solidFill>
                <a:latin typeface="Calibri"/>
              </a:rPr>
              <a:t> layers × </a:t>
            </a:r>
            <a:r>
              <a:rPr sz="2400" b="1" i="0">
                <a:solidFill>
                  <a:srgbClr val="222222"/>
                </a:solidFill>
                <a:latin typeface="Calibri"/>
              </a:rPr>
              <a:t>64</a:t>
            </a:r>
            <a:r>
              <a:rPr sz="2400" b="0" i="0">
                <a:solidFill>
                  <a:srgbClr val="222222"/>
                </a:solidFill>
                <a:latin typeface="Calibri"/>
              </a:rPr>
              <a:t> heads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Vanilla Muon drives max logits past 1000</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&gt; 1000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max attention logit in a 53B-parameter MoE (9B active) trained with vanilla Muon, followed by loss spikes and occasional divergence</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Kimi K2 report (arXiv 2507.20534), §2.1 and Fig. 2 (left)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Muon inflates the weights that set logits</a:t>
            </a:r>
          </a:p>
        </p:txBody>
      </p:sp>
      <p:pic>
        <p:nvPicPr>
          <p:cNvPr id="3" name="Picture 2" descr="fig_villain.png"/>
          <p:cNvPicPr>
            <a:picLocks noChangeAspect="1"/>
          </p:cNvPicPr>
          <p:nvPr/>
        </p:nvPicPr>
        <p:blipFill>
          <a:blip r:embed="rId2"/>
          <a:stretch>
            <a:fillRect/>
          </a:stretch>
        </p:blipFill>
        <p:spPr>
          <a:xfrm>
            <a:off x="548640" y="1579856"/>
            <a:ext cx="11094415" cy="3423966"/>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RMSNorm bounds the inputs, so the growth must come from </a:t>
            </a:r>
            <a:r>
              <a:rPr sz="2000" b="1" i="0">
                <a:solidFill>
                  <a:srgbClr val="222222"/>
                </a:solidFill>
                <a:latin typeface="Menlo"/>
              </a:rPr>
              <a:t>W_q</a:t>
            </a:r>
            <a:r>
              <a:rPr sz="2200" b="1" i="0">
                <a:solidFill>
                  <a:srgbClr val="222222"/>
                </a:solidFill>
                <a:latin typeface="Calibri"/>
              </a:rPr>
              <a:t> and </a:t>
            </a:r>
            <a:r>
              <a:rPr sz="2000" b="1" i="0">
                <a:solidFill>
                  <a:srgbClr val="222222"/>
                </a:solidFill>
                <a:latin typeface="Menlo"/>
              </a:rPr>
              <a:t>W_k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Soft-cap and QK-Norm both fall short</a:t>
            </a:r>
          </a:p>
        </p:txBody>
      </p:sp>
      <p:pic>
        <p:nvPicPr>
          <p:cNvPr id="3" name="Picture 2" descr="fig_suitors.png"/>
          <p:cNvPicPr>
            <a:picLocks noChangeAspect="1"/>
          </p:cNvPicPr>
          <p:nvPr/>
        </p:nvPicPr>
        <p:blipFill>
          <a:blip r:embed="rId2"/>
          <a:stretch>
            <a:fillRect/>
          </a:stretch>
        </p:blipFill>
        <p:spPr>
          <a:xfrm>
            <a:off x="548640" y="1570292"/>
            <a:ext cx="11094415" cy="3443094"/>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a fix on the weights that works with MLA's latent keys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fix the weights, not the logits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Logit is bilinear: √γ on </a:t>
            </a:r>
            <a:r>
              <a:rPr sz="2200" b="0" i="0">
                <a:solidFill>
                  <a:srgbClr val="222222"/>
                </a:solidFill>
                <a:latin typeface="Menlo"/>
              </a:rPr>
              <a:t>W_q</a:t>
            </a:r>
            <a:r>
              <a:rPr sz="2400" b="0" i="0">
                <a:solidFill>
                  <a:srgbClr val="222222"/>
                </a:solidFill>
                <a:latin typeface="Calibri"/>
              </a:rPr>
              <a:t> and </a:t>
            </a:r>
            <a:r>
              <a:rPr sz="2200" b="0" i="0">
                <a:solidFill>
                  <a:srgbClr val="222222"/>
                </a:solidFill>
                <a:latin typeface="Menlo"/>
              </a:rPr>
              <a:t>W_k</a:t>
            </a:r>
            <a:r>
              <a:rPr sz="2400" b="0" i="0">
                <a:solidFill>
                  <a:srgbClr val="222222"/>
                </a:solidFill>
                <a:latin typeface="Calibri"/>
              </a:rPr>
              <a:t> scales it by </a:t>
            </a:r>
            <a:r>
              <a:rPr sz="2400" b="1" i="0">
                <a:solidFill>
                  <a:srgbClr val="222222"/>
                </a:solidFill>
                <a:latin typeface="Calibri"/>
              </a:rPr>
              <a:t>γ</a:t>
            </a:r>
          </a:p>
          <a:p>
            <a:pPr marL="320040" indent="-292608">
              <a:spcAft>
                <a:spcPts val="1080"/>
              </a:spcAft>
              <a:buChar char="•"/>
            </a:pPr>
            <a:r>
              <a:rPr sz="2400" b="0" i="0">
                <a:solidFill>
                  <a:srgbClr val="222222"/>
                </a:solidFill>
                <a:latin typeface="Calibri"/>
              </a:rPr>
              <a:t>Forward already computes each head's max logit</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fix the weights, not the logits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Logit is bilinear: √γ on </a:t>
            </a:r>
            <a:r>
              <a:rPr sz="2200" b="0" i="0">
                <a:solidFill>
                  <a:srgbClr val="222222"/>
                </a:solidFill>
                <a:latin typeface="Menlo"/>
              </a:rPr>
              <a:t>W_q</a:t>
            </a:r>
            <a:r>
              <a:rPr sz="2400" b="0" i="0">
                <a:solidFill>
                  <a:srgbClr val="222222"/>
                </a:solidFill>
                <a:latin typeface="Calibri"/>
              </a:rPr>
              <a:t> and </a:t>
            </a:r>
            <a:r>
              <a:rPr sz="2200" b="0" i="0">
                <a:solidFill>
                  <a:srgbClr val="222222"/>
                </a:solidFill>
                <a:latin typeface="Menlo"/>
              </a:rPr>
              <a:t>W_k</a:t>
            </a:r>
            <a:r>
              <a:rPr sz="2400" b="0" i="0">
                <a:solidFill>
                  <a:srgbClr val="222222"/>
                </a:solidFill>
                <a:latin typeface="Calibri"/>
              </a:rPr>
              <a:t> scales it by </a:t>
            </a:r>
            <a:r>
              <a:rPr sz="2400" b="1" i="0">
                <a:solidFill>
                  <a:srgbClr val="222222"/>
                </a:solidFill>
                <a:latin typeface="Calibri"/>
              </a:rPr>
              <a:t>γ</a:t>
            </a:r>
          </a:p>
          <a:p>
            <a:pPr marL="320040" indent="-292608">
              <a:spcAft>
                <a:spcPts val="1080"/>
              </a:spcAft>
              <a:buChar char="•"/>
            </a:pPr>
            <a:r>
              <a:rPr sz="2400" b="0" i="0">
                <a:solidFill>
                  <a:srgbClr val="222222"/>
                </a:solidFill>
                <a:latin typeface="Calibri"/>
              </a:rPr>
              <a:t>Forward already computes each head's max logit</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After each update, rescale </a:t>
            </a:r>
            <a:r>
              <a:rPr sz="2000" b="1" i="0">
                <a:solidFill>
                  <a:srgbClr val="222222"/>
                </a:solidFill>
                <a:latin typeface="Menlo"/>
              </a:rPr>
              <a:t>W_q</a:t>
            </a:r>
            <a:r>
              <a:rPr sz="2200" b="1" i="0">
                <a:solidFill>
                  <a:srgbClr val="222222"/>
                </a:solidFill>
                <a:latin typeface="Calibri"/>
              </a:rPr>
              <a:t>, </a:t>
            </a:r>
            <a:r>
              <a:rPr sz="2000" b="1" i="0">
                <a:solidFill>
                  <a:srgbClr val="222222"/>
                </a:solidFill>
                <a:latin typeface="Menlo"/>
              </a:rPr>
              <a:t>W_k</a:t>
            </a:r>
            <a:r>
              <a:rPr sz="2200" b="1" i="0">
                <a:solidFill>
                  <a:srgbClr val="222222"/>
                </a:solidFill>
                <a:latin typeface="Calibri"/>
              </a:rPr>
              <a:t> only for heads above τ</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MuonClip adds one clip after every Muon step</a:t>
            </a:r>
          </a:p>
        </p:txBody>
      </p:sp>
      <p:pic>
        <p:nvPicPr>
          <p:cNvPr id="3" name="Picture 2" descr="fig_overview.png"/>
          <p:cNvPicPr>
            <a:picLocks noChangeAspect="1"/>
          </p:cNvPicPr>
          <p:nvPr/>
        </p:nvPicPr>
        <p:blipFill>
          <a:blip r:embed="rId2"/>
          <a:stretch>
            <a:fillRect/>
          </a:stretch>
        </p:blipFill>
        <p:spPr>
          <a:xfrm>
            <a:off x="548640" y="1938153"/>
            <a:ext cx="11094415" cy="3347452"/>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per-head trigger · ❷ MLA-aware rescale · ❸ fused into the optimizer step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Only heads above τ get clipped</a:t>
            </a:r>
          </a:p>
        </p:txBody>
      </p:sp>
      <p:pic>
        <p:nvPicPr>
          <p:cNvPr id="3" name="Picture 2" descr="fig_heads.png"/>
          <p:cNvPicPr>
            <a:picLocks noChangeAspect="1"/>
          </p:cNvPicPr>
          <p:nvPr/>
        </p:nvPicPr>
        <p:blipFill>
          <a:blip r:embed="rId2"/>
          <a:stretch>
            <a:fillRect/>
          </a:stretch>
        </p:blipFill>
        <p:spPr>
          <a:xfrm>
            <a:off x="548640" y="1708613"/>
            <a:ext cx="11094415" cy="3806532"/>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Illustrative logits. Per-head clipping keeps cold heads untouched.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MLA splits the scale: √γ, √γ, γ</a:t>
            </a:r>
          </a:p>
        </p:txBody>
      </p:sp>
      <p:pic>
        <p:nvPicPr>
          <p:cNvPr id="3" name="Picture 2" descr="fig_mla.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Both terms shrink by γ; the shared </a:t>
            </a:r>
            <a:r>
              <a:rPr sz="2000" b="1" i="0">
                <a:solidFill>
                  <a:srgbClr val="222222"/>
                </a:solidFill>
                <a:latin typeface="Menlo"/>
              </a:rPr>
              <a:t>k_R</a:t>
            </a:r>
            <a:r>
              <a:rPr sz="2200" b="1" i="0">
                <a:solidFill>
                  <a:srgbClr val="222222"/>
                </a:solidFill>
                <a:latin typeface="Calibri"/>
              </a:rPr>
              <a:t> stays intact for other heads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The clip runs inside the optimizer step</a:t>
            </a:r>
          </a:p>
        </p:txBody>
      </p:sp>
      <p:pic>
        <p:nvPicPr>
          <p:cNvPr id="3" name="Picture 2" descr="fig_algo.png"/>
          <p:cNvPicPr>
            <a:picLocks noChangeAspect="1"/>
          </p:cNvPicPr>
          <p:nvPr/>
        </p:nvPicPr>
        <p:blipFill>
          <a:blip r:embed="rId2"/>
          <a:stretch>
            <a:fillRect/>
          </a:stretch>
        </p:blipFill>
        <p:spPr>
          <a:xfrm>
            <a:off x="548640" y="1579856"/>
            <a:ext cx="11094415" cy="3423966"/>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optimizer, MuonClip: Muon, weight decay, RMS matching, QK-Clip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Max logit capped at 100, not &gt;1000</a:t>
            </a:r>
          </a:p>
        </p:txBody>
      </p:sp>
      <p:pic>
        <p:nvPicPr>
          <p:cNvPr id="3" name="Picture 2" descr="chart_maxlogit.png"/>
          <p:cNvPicPr>
            <a:picLocks noChangeAspect="1"/>
          </p:cNvPicPr>
          <p:nvPr/>
        </p:nvPicPr>
        <p:blipFill>
          <a:blip r:embed="rId2"/>
          <a:stretch>
            <a:fillRect/>
          </a:stretch>
        </p:blipFill>
        <p:spPr>
          <a:xfrm>
            <a:off x="5541126" y="1665772"/>
            <a:ext cx="6101928" cy="3892214"/>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Different model scales; the vanilla bar is a lower bound</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K2 cap: </a:t>
            </a:r>
            <a:r>
              <a:rPr sz="2400" b="1" i="0">
                <a:solidFill>
                  <a:srgbClr val="222222"/>
                </a:solidFill>
                <a:latin typeface="Calibri"/>
              </a:rPr>
              <a:t>τ = 100</a:t>
            </a:r>
          </a:p>
          <a:p>
            <a:pPr marL="320040" indent="-292608">
              <a:spcAft>
                <a:spcPts val="1080"/>
              </a:spcAft>
              <a:buChar char="•"/>
            </a:pPr>
            <a:r>
              <a:rPr sz="2400" b="0" i="0">
                <a:solidFill>
                  <a:srgbClr val="222222"/>
                </a:solidFill>
                <a:latin typeface="Calibri"/>
              </a:rPr>
              <a:t>Logits decay below the cap after ~</a:t>
            </a:r>
            <a:r>
              <a:rPr sz="2400" b="1" i="0">
                <a:solidFill>
                  <a:srgbClr val="222222"/>
                </a:solidFill>
                <a:latin typeface="Calibri"/>
              </a:rPr>
              <a:t>30%</a:t>
            </a:r>
            <a:r>
              <a:rPr sz="2400" b="0" i="0">
                <a:solidFill>
                  <a:srgbClr val="222222"/>
                </a:solidFill>
                <a:latin typeface="Calibri"/>
              </a:rPr>
              <a:t> of steps</a:t>
            </a:r>
          </a:p>
          <a:p>
            <a:pPr marL="320040" indent="-292608">
              <a:spcAft>
                <a:spcPts val="1080"/>
              </a:spcAft>
              <a:buChar char="•"/>
            </a:pPr>
            <a:r>
              <a:rPr sz="2400" b="0" i="0">
                <a:solidFill>
                  <a:srgbClr val="222222"/>
                </a:solidFill>
                <a:latin typeface="Calibri"/>
              </a:rPr>
              <a:t>No retuning of τ during the run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K2 trained 15.5T tokens with zero spikes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loss spikes in Kimi K2's 15.5T-token pretraining (per-step loss, no smoothing or sub-sampling)</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Kimi K2 report (arXiv 2507.20534), abstract and Fig. 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QK-Clip switched itself off after 70K steps</a:t>
            </a:r>
          </a:p>
        </p:txBody>
      </p:sp>
      <p:pic>
        <p:nvPicPr>
          <p:cNvPr id="3" name="Picture 2" descr="chart_activity.png"/>
          <p:cNvPicPr>
            <a:picLocks noChangeAspect="1"/>
          </p:cNvPicPr>
          <p:nvPr/>
        </p:nvPicPr>
        <p:blipFill>
          <a:blip r:embed="rId2"/>
          <a:stretch>
            <a:fillRect/>
          </a:stretch>
        </p:blipFill>
        <p:spPr>
          <a:xfrm>
            <a:off x="5541126" y="1576307"/>
            <a:ext cx="6101928" cy="4071145"/>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Step-to-token conversion uses the 67M-token batch (derived)</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Active early: </a:t>
            </a:r>
            <a:r>
              <a:rPr sz="2400" b="1" i="0">
                <a:solidFill>
                  <a:srgbClr val="222222"/>
                </a:solidFill>
                <a:latin typeface="Calibri"/>
              </a:rPr>
              <a:t>12.7%</a:t>
            </a:r>
            <a:r>
              <a:rPr sz="2400" b="0" i="0">
                <a:solidFill>
                  <a:srgbClr val="222222"/>
                </a:solidFill>
                <a:latin typeface="Calibri"/>
              </a:rPr>
              <a:t> of heads hit τ</a:t>
            </a:r>
          </a:p>
          <a:p>
            <a:pPr marL="320040" indent="-292608">
              <a:spcAft>
                <a:spcPts val="1080"/>
              </a:spcAft>
              <a:buChar char="•"/>
            </a:pPr>
            <a:r>
              <a:rPr sz="2400" b="0" i="0">
                <a:solidFill>
                  <a:srgbClr val="222222"/>
                </a:solidFill>
                <a:latin typeface="Calibri"/>
              </a:rPr>
              <a:t>After 70K steps: all heads below τ, a no-op</a:t>
            </a:r>
          </a:p>
          <a:p>
            <a:pPr marL="320040" indent="-292608">
              <a:spcAft>
                <a:spcPts val="1080"/>
              </a:spcAft>
              <a:buChar char="•"/>
            </a:pPr>
            <a:r>
              <a:rPr sz="2400" b="0" i="0">
                <a:solidFill>
                  <a:srgbClr val="222222"/>
                </a:solidFill>
                <a:latin typeface="Calibri"/>
              </a:rPr>
              <a:t>τ = </a:t>
            </a:r>
            <a:r>
              <a:rPr sz="2400" b="1" i="0">
                <a:solidFill>
                  <a:srgbClr val="222222"/>
                </a:solidFill>
                <a:latin typeface="Calibri"/>
              </a:rPr>
              <a:t>30</a:t>
            </a:r>
            <a:r>
              <a:rPr sz="2400" b="0" i="0">
                <a:solidFill>
                  <a:srgbClr val="222222"/>
                </a:solidFill>
                <a:latin typeface="Calibri"/>
              </a:rPr>
              <a:t> on a 3B MoE: negligible loss change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a threshold, a lag, MLA surgery</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New knob τ</a:t>
            </a:r>
            <a:r>
              <a:rPr sz="2400" b="0" i="0">
                <a:solidFill>
                  <a:srgbClr val="222222"/>
                </a:solidFill>
                <a:latin typeface="Calibri"/>
              </a:rPr>
              <a:t>: 100 in K2, 30 in the ablation</a:t>
            </a:r>
          </a:p>
          <a:p>
            <a:pPr marL="320040" indent="-292608">
              <a:spcAft>
                <a:spcPts val="1080"/>
              </a:spcAft>
              <a:buChar char="•"/>
            </a:pPr>
            <a:r>
              <a:rPr sz="2400" b="0" i="0">
                <a:solidFill>
                  <a:srgbClr val="222222"/>
                </a:solidFill>
                <a:latin typeface="Calibri"/>
              </a:rPr>
              <a:t>Acts from the next step only</a:t>
            </a:r>
          </a:p>
          <a:p>
            <a:pPr marL="320040" indent="-292608">
              <a:spcAft>
                <a:spcPts val="1080"/>
              </a:spcAft>
              <a:buChar char="•"/>
            </a:pPr>
            <a:r>
              <a:rPr sz="2400" b="0" i="0">
                <a:solidFill>
                  <a:srgbClr val="222222"/>
                </a:solidFill>
                <a:latin typeface="Calibri"/>
              </a:rPr>
              <a:t>Needs each head's max over the global batch</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No-harm evidence: one 3B ablation, self-deactivation</a:t>
            </a:r>
          </a:p>
          <a:p>
            <a:pPr marL="320040" indent="-292608">
              <a:spcAft>
                <a:spcPts val="1080"/>
              </a:spcAft>
              <a:buChar char="•"/>
            </a:pPr>
            <a:r>
              <a:rPr sz="2400" b="0" i="0">
                <a:solidFill>
                  <a:srgbClr val="222222"/>
                </a:solidFill>
                <a:latin typeface="Calibri"/>
              </a:rPr>
              <a:t>Non-MLA attention: QK-Norm is simpler (deck 66)</a:t>
            </a:r>
          </a:p>
          <a:p>
            <a:pPr marL="320040" indent="-292608">
              <a:spcAft>
                <a:spcPts val="1080"/>
              </a:spcAft>
              <a:buChar char="•"/>
            </a:pPr>
            <a:r>
              <a:rPr sz="2400" b="0" i="0">
                <a:solidFill>
                  <a:srgbClr val="222222"/>
                </a:solidFill>
                <a:latin typeface="Calibri"/>
              </a:rPr>
              <a:t>K3 keeps the clip, adds per-head Muon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Vanilla Muon: max attention logit </a:t>
            </a:r>
            <a:r>
              <a:rPr sz="2400" b="1" i="0">
                <a:solidFill>
                  <a:srgbClr val="222222"/>
                </a:solidFill>
                <a:latin typeface="Calibri"/>
              </a:rPr>
              <a:t>&gt; 1000</a:t>
            </a:r>
            <a:r>
              <a:rPr sz="2400" b="0" i="0">
                <a:solidFill>
                  <a:srgbClr val="222222"/>
                </a:solidFill>
                <a:latin typeface="Calibri"/>
              </a:rPr>
              <a:t> at 53B scale</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logits are bilinear in </a:t>
            </a:r>
            <a:r>
              <a:rPr sz="2200" b="0" i="0">
                <a:solidFill>
                  <a:srgbClr val="222222"/>
                </a:solidFill>
                <a:latin typeface="Menlo"/>
              </a:rPr>
              <a:t>W_q</a:t>
            </a:r>
            <a:r>
              <a:rPr sz="2400" b="0" i="0">
                <a:solidFill>
                  <a:srgbClr val="222222"/>
                </a:solidFill>
                <a:latin typeface="Calibri"/>
              </a:rPr>
              <a:t>, </a:t>
            </a:r>
            <a:r>
              <a:rPr sz="2200" b="0" i="0">
                <a:solidFill>
                  <a:srgbClr val="222222"/>
                </a:solidFill>
                <a:latin typeface="Menlo"/>
              </a:rPr>
              <a:t>W_k</a:t>
            </a:r>
            <a:r>
              <a:rPr sz="2400" b="0" i="0">
                <a:solidFill>
                  <a:srgbClr val="222222"/>
                </a:solidFill>
                <a:latin typeface="Calibri"/>
              </a:rPr>
              <a:t>: rescale weights per head</a:t>
            </a:r>
          </a:p>
          <a:p>
            <a:pPr marL="320040" indent="-292608">
              <a:spcAft>
                <a:spcPts val="1080"/>
              </a:spcAft>
              <a:buChar char="•"/>
            </a:pPr>
            <a:r>
              <a:rPr sz="2400" b="0" i="0">
                <a:solidFill>
                  <a:srgbClr val="222222"/>
                </a:solidFill>
                <a:latin typeface="Calibri"/>
              </a:rPr>
              <a:t>K2: capped at </a:t>
            </a:r>
            <a:r>
              <a:rPr sz="2400" b="1" i="0">
                <a:solidFill>
                  <a:srgbClr val="222222"/>
                </a:solidFill>
                <a:latin typeface="Calibri"/>
              </a:rPr>
              <a:t>τ = 100</a:t>
            </a:r>
            <a:r>
              <a:rPr sz="2400" b="0" i="0">
                <a:solidFill>
                  <a:srgbClr val="222222"/>
                </a:solidFill>
                <a:latin typeface="Calibri"/>
              </a:rPr>
              <a:t>, </a:t>
            </a:r>
            <a:r>
              <a:rPr sz="2400" b="1" i="0">
                <a:solidFill>
                  <a:srgbClr val="222222"/>
                </a:solidFill>
                <a:latin typeface="Calibri"/>
              </a:rPr>
              <a:t>12.7%</a:t>
            </a:r>
            <a:r>
              <a:rPr sz="2400" b="0" i="0">
                <a:solidFill>
                  <a:srgbClr val="222222"/>
                </a:solidFill>
                <a:latin typeface="Calibri"/>
              </a:rPr>
              <a:t> of heads clipped, then off</a:t>
            </a:r>
          </a:p>
          <a:p>
            <a:pPr marL="320040" indent="-292608">
              <a:spcAft>
                <a:spcPts val="1080"/>
              </a:spcAft>
              <a:buChar char="•"/>
            </a:pPr>
            <a:r>
              <a:rPr sz="2400" b="1" i="0">
                <a:solidFill>
                  <a:srgbClr val="222222"/>
                </a:solidFill>
                <a:latin typeface="Calibri"/>
              </a:rPr>
              <a:t>0</a:t>
            </a:r>
            <a:r>
              <a:rPr sz="2400" b="0" i="0">
                <a:solidFill>
                  <a:srgbClr val="222222"/>
                </a:solidFill>
                <a:latin typeface="Calibri"/>
              </a:rPr>
              <a:t> loss spikes across </a:t>
            </a:r>
            <a:r>
              <a:rPr sz="2400" b="1" i="0">
                <a:solidFill>
                  <a:srgbClr val="222222"/>
                </a:solidFill>
                <a:latin typeface="Calibri"/>
              </a:rPr>
              <a:t>15.5T</a:t>
            </a:r>
            <a:r>
              <a:rPr sz="2400" b="0" i="0">
                <a:solidFill>
                  <a:srgbClr val="222222"/>
                </a:solidFill>
                <a:latin typeface="Calibri"/>
              </a:rPr>
              <a:t> tokens on a </a:t>
            </a:r>
            <a:r>
              <a:rPr sz="2400" b="1" i="0">
                <a:solidFill>
                  <a:srgbClr val="222222"/>
                </a:solidFill>
                <a:latin typeface="Calibri"/>
              </a:rPr>
              <a:t>1.04T</a:t>
            </a:r>
            <a:r>
              <a:rPr sz="2400" b="0" i="0">
                <a:solidFill>
                  <a:srgbClr val="222222"/>
                </a:solidFill>
                <a:latin typeface="Calibri"/>
              </a:rPr>
              <a:t> MoE</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https://arxiv.org/abs/2507.20534</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