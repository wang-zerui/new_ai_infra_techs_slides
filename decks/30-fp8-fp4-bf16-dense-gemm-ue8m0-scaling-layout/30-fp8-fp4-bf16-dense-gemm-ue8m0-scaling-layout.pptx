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format numbers are Table 1 of the FP8-formats paper: E4M3 has a 4-bit exponent, 3-bit mantissa, max normal 448 and 18 binades of range. Narrow enough that how you scale matters more than that you scale.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before any quantization error. The partial products are right-shifted to a common exponent and only the top ~14 bits are kept, so the error grows with K, exactly where large models live. FP32 accumulators in registers do not help: the truncation is inside the MMA.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V3 calls FP8 training highly sensitive to activation outliers. Their fix is to scale per 1x128 activation tile and per 128x128 weight block, with the max-abs computed online rather than from a history. The catch is in the callout: a scale that changes along K has to be applied inside the GEMM's K loop, which a standard FP8 GEMM does not offer.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DeepGEMM asserts this on device: a scale factor whose sign or mantissa bits are non-zero trips an assert, and the cast kernels round scales to powers of two. That constraint is what makes packing into UE8M0 lossless.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 K block the kernel TMA-loads the A tile, the B tile and both scale-factor blocks. On Hopper the WGMMA accumulator is the imprecise one, so the kernel promotes. On Blackwell the scale factors go into tensor memory and the tcgen05 MMA applies them itself.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recipe describes storage granularity, not compute granularity. gran_k must be 128 on SM90; SM100 accepts 32 or 128, which is how MX-style FP4 weights fit in. On SM90, gran_n = 1 selects the 1d1d kernel and gran_n = 128 the 1d2d kernel.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V3 section 3.3.2 reports 128 elements, equivalent to four WGMMAs, as the smallest interval that fixes the precision without substantial overhead. The scale multiply is nearly free there because dequantization has to happen anyway. On SM100 this step disappears into the instruction.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to supply scale factors: FP32 and let DeepGEMM launch a transform kernel on every call, or hand over the packed int32 layout and have it only validated. Weights are transformed once and cached; activation scales come straight out of the quantization cast kernel in this layout.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FP4 path is what V4 uses for routed expert weights. The BF16 note matters for reproducibility: with use_deterministic_algorithms(True) the library stays on its own kernels, which deck 39 covers.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gain is largest where the GEMM is small and memory-bound, which is decoding; at M=4096 with a big K the kernel is compute-bound and the margin narrows to 1.1-1.3x. All numbers from the March 2025 README table; the 1550 TFLOPS peak is the April 2025 release note.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number that justifies the whole scheme: the scaling layout is not just fast, it keeps FP8 training on the BF16 loss curve. V3 also reports no irrecoverable loss spikes across the full 14.8T-token run.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library optimizes the GEMM and expects the quantization cast to be fused into whatever produced the activations. If you hand it FP32 scale factors it will still work, but you pay a transform kernel launch on every GEMM call.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Related decks: 25 is the DeepGEMM library overview, 32-34 the grouped GEMM layouts, 39 the JIT and determinism switches, 35 Mega MoE.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FP8/FP4/BF16 dense GEMM</a:t>
            </a:r>
          </a:p>
          <a:p>
            <a:pPr>
              <a:spcBef>
                <a:spcPts val="600"/>
              </a:spcBef>
            </a:pPr>
            <a:r>
              <a:rPr sz="2600" b="0" i="0">
                <a:solidFill>
                  <a:srgbClr val="222222"/>
                </a:solidFill>
                <a:latin typeface="Calibri"/>
              </a:rPr>
              <a:t>Fine-grained scaling and the UE8M0 layout in DeepGEMM</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DeepSeek-AI · DeepGEMM (deck 25)</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GEMM &amp; MoE Kernels · github.com/deepseek-ai/DeepGEMM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FP8 is the training format, and it is narrow</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DeepSeek-V3 pre-trained </a:t>
            </a:r>
            <a:r>
              <a:rPr sz="2400" b="1" i="0">
                <a:solidFill>
                  <a:srgbClr val="222222"/>
                </a:solidFill>
                <a:latin typeface="Calibri"/>
              </a:rPr>
              <a:t>14.8T</a:t>
            </a:r>
            <a:r>
              <a:rPr sz="2400" b="0" i="0">
                <a:solidFill>
                  <a:srgbClr val="222222"/>
                </a:solidFill>
                <a:latin typeface="Calibri"/>
              </a:rPr>
              <a:t> tokens with FP8 linear layers</a:t>
            </a:r>
          </a:p>
          <a:p>
            <a:pPr marL="320040" indent="-292608">
              <a:spcAft>
                <a:spcPts val="1080"/>
              </a:spcAft>
              <a:buChar char="•"/>
            </a:pPr>
            <a:r>
              <a:rPr sz="2400" b="0" i="0">
                <a:solidFill>
                  <a:srgbClr val="222222"/>
                </a:solidFill>
                <a:latin typeface="Calibri"/>
              </a:rPr>
              <a:t>E4M3 carries </a:t>
            </a:r>
            <a:r>
              <a:rPr sz="2400" b="1" i="0">
                <a:solidFill>
                  <a:srgbClr val="222222"/>
                </a:solidFill>
                <a:latin typeface="Calibri"/>
              </a:rPr>
              <a:t>3 mantissa bits</a:t>
            </a:r>
            <a:r>
              <a:rPr sz="2400" b="0" i="0">
                <a:solidFill>
                  <a:srgbClr val="222222"/>
                </a:solidFill>
                <a:latin typeface="Calibri"/>
              </a:rPr>
              <a:t>: max 448, min normal 2⁻⁶</a:t>
            </a:r>
          </a:p>
          <a:p>
            <a:pPr marL="320040" indent="-292608">
              <a:spcAft>
                <a:spcPts val="1080"/>
              </a:spcAft>
              <a:buChar char="•"/>
            </a:pPr>
            <a:r>
              <a:rPr sz="2400" b="0" i="0">
                <a:solidFill>
                  <a:srgbClr val="222222"/>
                </a:solidFill>
                <a:latin typeface="Calibri"/>
              </a:rPr>
              <a:t>Every projection and expert FFN is one of these GEMMs</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tensor core's own accumulator loses precision</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~2%</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maximum relative error of an FP8 GEMM at K = 4096 — H800 tensor cores keep only about 14 bits of the accumulation</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DeepSeek-V3 technical report, §3.3.2 (p. 17); error measured on two random matrices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One scale per tensor cannot survive outliers</a:t>
            </a:r>
          </a:p>
        </p:txBody>
      </p:sp>
      <p:pic>
        <p:nvPicPr>
          <p:cNvPr id="3" name="Picture 2" descr="fig_quant.png"/>
          <p:cNvPicPr>
            <a:picLocks noChangeAspect="1"/>
          </p:cNvPicPr>
          <p:nvPr/>
        </p:nvPicPr>
        <p:blipFill>
          <a:blip r:embed="rId2"/>
          <a:stretch>
            <a:fillRect/>
          </a:stretch>
        </p:blipFill>
        <p:spPr>
          <a:xfrm>
            <a:off x="656339" y="1463040"/>
            <a:ext cx="10879015"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Per-group scaling along K is "not directly supported" by a standard FP8 GEMM (DeepSeek-V3 §3.3.2)</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make every scale an exact power of two</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A power-of-two scale is exactly representable and costs an exponent add</a:t>
            </a:r>
          </a:p>
          <a:p>
            <a:pPr marL="320040" indent="-292608">
              <a:spcAft>
                <a:spcPts val="1080"/>
              </a:spcAft>
              <a:buChar char="•"/>
            </a:pPr>
            <a:r>
              <a:rPr sz="2400" b="0" i="0">
                <a:solidFill>
                  <a:srgbClr val="222222"/>
                </a:solidFill>
                <a:latin typeface="Calibri"/>
              </a:rPr>
              <a:t>It fits in </a:t>
            </a:r>
            <a:r>
              <a:rPr sz="2400" b="1" i="0">
                <a:solidFill>
                  <a:srgbClr val="222222"/>
                </a:solidFill>
                <a:latin typeface="Calibri"/>
              </a:rPr>
              <a:t>8 bits</a:t>
            </a:r>
            <a:r>
              <a:rPr sz="2400" b="0" i="0">
                <a:solidFill>
                  <a:srgbClr val="222222"/>
                </a:solidFill>
                <a:latin typeface="Calibri"/>
              </a:rPr>
              <a:t>: UE8M0, no sign, no mantissa</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make every scale an exact power of two</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A power-of-two scale is exactly representable and costs an exponent add</a:t>
            </a:r>
          </a:p>
          <a:p>
            <a:pPr marL="320040" indent="-292608">
              <a:spcAft>
                <a:spcPts val="1080"/>
              </a:spcAft>
              <a:buChar char="•"/>
            </a:pPr>
            <a:r>
              <a:rPr sz="2400" b="0" i="0">
                <a:solidFill>
                  <a:srgbClr val="222222"/>
                </a:solidFill>
                <a:latin typeface="Calibri"/>
              </a:rPr>
              <a:t>It fits in </a:t>
            </a:r>
            <a:r>
              <a:rPr sz="2400" b="1" i="0">
                <a:solidFill>
                  <a:srgbClr val="222222"/>
                </a:solidFill>
                <a:latin typeface="Calibri"/>
              </a:rPr>
              <a:t>8 bits</a:t>
            </a:r>
            <a:r>
              <a:rPr sz="2400" b="0" i="0">
                <a:solidFill>
                  <a:srgbClr val="222222"/>
                </a:solidFill>
                <a:latin typeface="Calibri"/>
              </a:rPr>
              <a:t>: UE8M0, no sign, no mantissa</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Then the scale becomes an operand the TMA streams and the MMA consumes, not a fix-up outside the GEMM</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Scales ride with the tiles into the inner loop</a:t>
            </a:r>
          </a:p>
        </p:txBody>
      </p:sp>
      <p:pic>
        <p:nvPicPr>
          <p:cNvPr id="3" name="Picture 2" descr="fig_pipeline.png"/>
          <p:cNvPicPr>
            <a:picLocks noChangeAspect="1"/>
          </p:cNvPicPr>
          <p:nvPr/>
        </p:nvPicPr>
        <p:blipFill>
          <a:blip r:embed="rId2"/>
          <a:stretch>
            <a:fillRect/>
          </a:stretch>
        </p:blipFill>
        <p:spPr>
          <a:xfrm>
            <a:off x="548640" y="1507766"/>
            <a:ext cx="11094415" cy="4208226"/>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Same kernel family, two ways to apply the scale: CUDA-core promotion (SM90) or block-scaled MMA (SM100)</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The recipe fixes the scale-factor shapes</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200" b="0" i="0">
                <a:solidFill>
                  <a:srgbClr val="222222"/>
                </a:solidFill>
                <a:latin typeface="Menlo"/>
              </a:rPr>
              <a:t>recipe = (gran_m, gran_n, gran_k)</a:t>
            </a:r>
            <a:r>
              <a:rPr sz="2400" b="0" i="0">
                <a:solidFill>
                  <a:srgbClr val="222222"/>
                </a:solidFill>
                <a:latin typeface="Calibri"/>
              </a:rPr>
              <a:t>: one SF per </a:t>
            </a:r>
            <a:r>
              <a:rPr sz="2200" b="0" i="0">
                <a:solidFill>
                  <a:srgbClr val="222222"/>
                </a:solidFill>
                <a:latin typeface="Menlo"/>
              </a:rPr>
              <a:t>gran_m x gran_k</a:t>
            </a:r>
            <a:r>
              <a:rPr sz="2400" b="0" i="0">
                <a:solidFill>
                  <a:srgbClr val="222222"/>
                </a:solidFill>
                <a:latin typeface="Calibri"/>
              </a:rPr>
              <a:t> block of A</a:t>
            </a:r>
          </a:p>
          <a:p>
            <a:pPr marL="320040" indent="-292608">
              <a:spcAft>
                <a:spcPts val="1080"/>
              </a:spcAft>
              <a:buChar char="•"/>
            </a:pPr>
            <a:r>
              <a:rPr sz="2200" b="0" i="0">
                <a:solidFill>
                  <a:srgbClr val="222222"/>
                </a:solidFill>
                <a:latin typeface="Menlo"/>
              </a:rPr>
              <a:t>SFA: [ceil(M/gran_m), ceil(K/gran_k)]</a:t>
            </a:r>
            <a:r>
              <a:rPr sz="2400" b="0" i="0">
                <a:solidFill>
                  <a:srgbClr val="222222"/>
                </a:solidFill>
                <a:latin typeface="Calibri"/>
              </a:rPr>
              <a:t>, FP32 before transform</a:t>
            </a:r>
          </a:p>
          <a:p>
            <a:pPr marL="320040" indent="-292608">
              <a:spcAft>
                <a:spcPts val="1080"/>
              </a:spcAft>
              <a:buChar char="•"/>
            </a:pPr>
            <a:r>
              <a:rPr sz="2400" b="0" i="0">
                <a:solidFill>
                  <a:srgbClr val="222222"/>
                </a:solidFill>
                <a:latin typeface="Calibri"/>
              </a:rPr>
              <a:t>V3 uses </a:t>
            </a:r>
            <a:r>
              <a:rPr sz="2400" b="1" i="0">
                <a:solidFill>
                  <a:srgbClr val="222222"/>
                </a:solidFill>
                <a:latin typeface="Calibri"/>
              </a:rPr>
              <a:t>1x128</a:t>
            </a:r>
            <a:r>
              <a:rPr sz="2400" b="0" i="0">
                <a:solidFill>
                  <a:srgbClr val="222222"/>
                </a:solidFill>
                <a:latin typeface="Calibri"/>
              </a:rPr>
              <a:t> activations, </a:t>
            </a:r>
            <a:r>
              <a:rPr sz="2400" b="1" i="0">
                <a:solidFill>
                  <a:srgbClr val="222222"/>
                </a:solidFill>
                <a:latin typeface="Calibri"/>
              </a:rPr>
              <a:t>128x128</a:t>
            </a:r>
            <a:r>
              <a:rPr sz="2400" b="0" i="0">
                <a:solidFill>
                  <a:srgbClr val="222222"/>
                </a:solidFill>
                <a:latin typeface="Calibri"/>
              </a:rPr>
              <a:t> weights; SM100 also takes 1x32</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SM90 promotes to CUDA cores every 128 elements</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4 WGMMAs fill the tensor-core accumulator, then CUDA cores apply </a:t>
            </a:r>
            <a:r>
              <a:rPr sz="2200" b="0" i="0">
                <a:solidFill>
                  <a:srgbClr val="222222"/>
                </a:solidFill>
                <a:latin typeface="Menlo"/>
              </a:rPr>
              <a:t>SFA x SFB</a:t>
            </a:r>
          </a:p>
          <a:p>
            <a:pPr marL="320040" indent="-292608">
              <a:spcAft>
                <a:spcPts val="1080"/>
              </a:spcAft>
              <a:buChar char="•"/>
            </a:pPr>
            <a:r>
              <a:rPr sz="2400" b="0" i="0">
                <a:solidFill>
                  <a:srgbClr val="222222"/>
                </a:solidFill>
                <a:latin typeface="Calibri"/>
              </a:rPr>
              <a:t>Partial sums land in </a:t>
            </a:r>
            <a:r>
              <a:rPr sz="2400" b="1" i="0">
                <a:solidFill>
                  <a:srgbClr val="222222"/>
                </a:solidFill>
                <a:latin typeface="Calibri"/>
              </a:rPr>
              <a:t>FP32 registers</a:t>
            </a:r>
            <a:r>
              <a:rPr sz="2400" b="0" i="0">
                <a:solidFill>
                  <a:srgbClr val="222222"/>
                </a:solidFill>
                <a:latin typeface="Calibri"/>
              </a:rPr>
              <a:t>; N_C = 128 is the minimal interval</a:t>
            </a:r>
          </a:p>
          <a:p>
            <a:pPr marL="320040" indent="-292608">
              <a:spcAft>
                <a:spcPts val="1080"/>
              </a:spcAft>
              <a:buChar char="•"/>
            </a:pPr>
            <a:r>
              <a:rPr sz="2400" b="0" i="0">
                <a:solidFill>
                  <a:srgbClr val="222222"/>
                </a:solidFill>
                <a:latin typeface="Calibri"/>
              </a:rPr>
              <a:t>Two warpgroups overlap: one promotes while the other issues MMA</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The layout contract: packed, MN-major, aligned</a:t>
            </a:r>
          </a:p>
        </p:txBody>
      </p:sp>
      <p:pic>
        <p:nvPicPr>
          <p:cNvPr id="3" name="Picture 2" descr="fig_sflayout.png"/>
          <p:cNvPicPr>
            <a:picLocks noChangeAspect="1"/>
          </p:cNvPicPr>
          <p:nvPr/>
        </p:nvPicPr>
        <p:blipFill>
          <a:blip r:embed="rId2"/>
          <a:stretch>
            <a:fillRect/>
          </a:stretch>
        </p:blipFill>
        <p:spPr>
          <a:xfrm>
            <a:off x="548640" y="1966846"/>
            <a:ext cx="11094415" cy="3290067"/>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packed_sf_k = ceil(K / (gran_k x 4)); pre-transformed factors are validated, not rebuilt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FP4 and BF16 ride the same path</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FP8 x FP4 weights: 1x32 scales, BLOCK_K = 256, two values per byte</a:t>
            </a:r>
          </a:p>
          <a:p>
            <a:pPr marL="320040" indent="-292608">
              <a:spcAft>
                <a:spcPts val="1080"/>
              </a:spcAft>
              <a:buChar char="•"/>
            </a:pPr>
            <a:r>
              <a:rPr sz="2400" b="0" i="0">
                <a:solidFill>
                  <a:srgbClr val="222222"/>
                </a:solidFill>
                <a:latin typeface="Calibri"/>
              </a:rPr>
              <a:t>BF16 GEMM dispatches to cuBLASLt unless determinism is requested</a:t>
            </a:r>
          </a:p>
          <a:p>
            <a:pPr marL="320040" indent="-292608">
              <a:spcAft>
                <a:spcPts val="1080"/>
              </a:spcAft>
              <a:buChar char="•"/>
            </a:pPr>
            <a:r>
              <a:rPr sz="2400" b="0" i="0">
                <a:solidFill>
                  <a:srgbClr val="222222"/>
                </a:solidFill>
                <a:latin typeface="Calibri"/>
              </a:rPr>
              <a:t>Epilogues can emit FP8 directly, with per-32 UE8M0 output scales</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2.7x at decode shapes, 1.3x at prefill</a:t>
            </a:r>
          </a:p>
        </p:txBody>
      </p:sp>
      <p:pic>
        <p:nvPicPr>
          <p:cNvPr id="3" name="Picture 2" descr="chart_shapes.png"/>
          <p:cNvPicPr>
            <a:picLocks noChangeAspect="1"/>
          </p:cNvPicPr>
          <p:nvPr/>
        </p:nvPicPr>
        <p:blipFill>
          <a:blip r:embed="rId2"/>
          <a:stretch>
            <a:fillRect/>
          </a:stretch>
        </p:blipFill>
        <p:spPr>
          <a:xfrm>
            <a:off x="4986406" y="1492518"/>
            <a:ext cx="6656649" cy="4604483"/>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Red line: tuned CUTLASS 3.6 build, H800 SXM5</a:t>
            </a:r>
          </a:p>
          <a:p>
            <a:pPr marL="320040" indent="-292608">
              <a:spcAft>
                <a:spcPts val="1080"/>
              </a:spcAft>
              <a:buChar char="•"/>
            </a:pPr>
            <a:r>
              <a:rPr sz="2400" b="0" i="0">
                <a:solidFill>
                  <a:srgbClr val="222222"/>
                </a:solidFill>
                <a:latin typeface="Calibri"/>
              </a:rPr>
              <a:t>At M = 64 the kernel is bandwidth-bound at </a:t>
            </a:r>
            <a:r>
              <a:rPr sz="2400" b="1" i="0">
                <a:solidFill>
                  <a:srgbClr val="222222"/>
                </a:solidFill>
                <a:latin typeface="Calibri"/>
              </a:rPr>
              <a:t>2.6 TB/s</a:t>
            </a:r>
          </a:p>
          <a:p>
            <a:pPr marL="320040" indent="-292608">
              <a:spcAft>
                <a:spcPts val="1080"/>
              </a:spcAft>
              <a:buChar char="•"/>
            </a:pPr>
            <a:r>
              <a:rPr sz="2400" b="0" i="0">
                <a:solidFill>
                  <a:srgbClr val="222222"/>
                </a:solidFill>
                <a:latin typeface="Calibri"/>
              </a:rPr>
              <a:t>Peak across shapes: </a:t>
            </a:r>
            <a:r>
              <a:rPr sz="2400" b="1" i="0">
                <a:solidFill>
                  <a:srgbClr val="222222"/>
                </a:solidFill>
                <a:latin typeface="Calibri"/>
              </a:rPr>
              <a:t>1550 TFLOPS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Fine-grained FP8 trains within 0.25% of BF16</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1F4E79"/>
                </a:solidFill>
                <a:latin typeface="Calibri"/>
              </a:rPr>
              <a:t>&lt;0.25%</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relative training-loss error of the FP8 recipe against a BF16 baseline, two model scales, about 1T tokens</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DeepSeek-V3 technical report, §3.3.1 (p. 16) and Appendix B.1</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What it costs you</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SM90: NT layout only, FP32 scale factors; SM100: all majors, packed UE8M0</a:t>
            </a:r>
          </a:p>
          <a:p>
            <a:pPr marL="320040" indent="-292608">
              <a:spcAft>
                <a:spcPts val="1080"/>
              </a:spcAft>
              <a:buChar char="•"/>
            </a:pPr>
            <a:r>
              <a:rPr sz="2400" b="0" i="0">
                <a:solidFill>
                  <a:srgbClr val="222222"/>
                </a:solidFill>
                <a:latin typeface="Calibri"/>
              </a:rPr>
              <a:t>Scales must be exact powers of two; unpacked ones cost a transform per call</a:t>
            </a:r>
          </a:p>
          <a:p>
            <a:pPr marL="320040" indent="-292608">
              <a:spcAft>
                <a:spcPts val="1080"/>
              </a:spcAft>
              <a:buChar char="•"/>
            </a:pPr>
            <a:r>
              <a:rPr sz="2400" b="0" i="0">
                <a:solidFill>
                  <a:srgbClr val="222222"/>
                </a:solidFill>
                <a:latin typeface="Calibri"/>
              </a:rPr>
              <a:t>Casting, transposition and scale production stay in your kernels</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FP8 tensor cores keep ~</a:t>
            </a:r>
            <a:r>
              <a:rPr sz="2400" b="1" i="0">
                <a:solidFill>
                  <a:srgbClr val="222222"/>
                </a:solidFill>
                <a:latin typeface="Calibri"/>
              </a:rPr>
              <a:t>14 bits</a:t>
            </a:r>
            <a:r>
              <a:rPr sz="2400" b="0" i="0">
                <a:solidFill>
                  <a:srgbClr val="222222"/>
                </a:solidFill>
                <a:latin typeface="Calibri"/>
              </a:rPr>
              <a:t>: up to </a:t>
            </a:r>
            <a:r>
              <a:rPr sz="2400" b="1" i="0">
                <a:solidFill>
                  <a:srgbClr val="222222"/>
                </a:solidFill>
                <a:latin typeface="Calibri"/>
              </a:rPr>
              <a:t>~2%</a:t>
            </a:r>
            <a:r>
              <a:rPr sz="2400" b="0" i="0">
                <a:solidFill>
                  <a:srgbClr val="222222"/>
                </a:solidFill>
                <a:latin typeface="Calibri"/>
              </a:rPr>
              <a:t> error at K = 4096</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power-of-two scales fit in 8 bits and stream with the tiles</a:t>
            </a:r>
          </a:p>
          <a:p>
            <a:pPr marL="320040" indent="-292608">
              <a:spcAft>
                <a:spcPts val="1080"/>
              </a:spcAft>
              <a:buChar char="•"/>
            </a:pPr>
            <a:r>
              <a:rPr sz="2400" b="0" i="0">
                <a:solidFill>
                  <a:srgbClr val="222222"/>
                </a:solidFill>
                <a:latin typeface="Calibri"/>
              </a:rPr>
              <a:t>1x128 and 128x128 scaling, promotion on SM90, block-scaled MMA on SM100</a:t>
            </a:r>
          </a:p>
          <a:p>
            <a:pPr marL="320040" indent="-292608">
              <a:spcAft>
                <a:spcPts val="1080"/>
              </a:spcAft>
              <a:buChar char="•"/>
            </a:pPr>
            <a:r>
              <a:rPr sz="2400" b="1" i="0">
                <a:solidFill>
                  <a:srgbClr val="222222"/>
                </a:solidFill>
                <a:latin typeface="Calibri"/>
              </a:rPr>
              <a:t>2.7x</a:t>
            </a:r>
            <a:r>
              <a:rPr sz="2400" b="0" i="0">
                <a:solidFill>
                  <a:srgbClr val="222222"/>
                </a:solidFill>
                <a:latin typeface="Calibri"/>
              </a:rPr>
              <a:t> over tuned CUTLASS at decode shapes, </a:t>
            </a:r>
            <a:r>
              <a:rPr sz="2400" b="1" i="0">
                <a:solidFill>
                  <a:srgbClr val="222222"/>
                </a:solidFill>
                <a:latin typeface="Calibri"/>
              </a:rPr>
              <a:t>1550 TFLOPS</a:t>
            </a:r>
            <a:r>
              <a:rPr sz="2400" b="0" i="0">
                <a:solidFill>
                  <a:srgbClr val="222222"/>
                </a:solidFill>
                <a:latin typeface="Calibri"/>
              </a:rPr>
              <a:t> peak, </a:t>
            </a:r>
            <a:r>
              <a:rPr sz="2400" b="1" i="0">
                <a:solidFill>
                  <a:srgbClr val="222222"/>
                </a:solidFill>
                <a:latin typeface="Calibri"/>
              </a:rPr>
              <a:t>&lt;0.25%</a:t>
            </a:r>
            <a:r>
              <a:rPr sz="2400" b="0" i="0">
                <a:solidFill>
                  <a:srgbClr val="222222"/>
                </a:solidFill>
                <a:latin typeface="Calibri"/>
              </a:rPr>
              <a:t> loss error</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https://github.com/deepseek-ai/DeepGEMM</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