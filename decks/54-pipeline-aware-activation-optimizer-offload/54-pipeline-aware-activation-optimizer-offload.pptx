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red blocks are what this deck moves off the GPU. In BF16, DeepSeek-V3 needs 199.5 GB per GPU: 131 GB of activations and 32.1 GB of main weights and optimizer state, against 80 GB on an H100. The optimizer block is idle during forward and backward, and most activations sit idle between their forward and their backward. Host memory is large and mostly unused: Kimi K2's training nodes have 2 TB of RAM for 8 GPUs. Sources: arXiv 2603.07685 Table 3 p.20 and §4.1.6 p.26; Kimi K2 report §2.4.1 p.7. Siblings: deck 52 recompute, deck 53 permutation.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pressure does not only cause out-of-memory errors; it forces worse parallel layouts. Qwen3-235B runs at TP2 with EP16 at 800 TFLOPS per GPU. With activation offloading it fits at TP1 with EP64 and runs at 920, 15.0% faster, at nearly the same memory (172 vs 175 GB). So the cost of the memory wall here is 15% throughput. Source: §4.1.5 Performance paragraph and Table 5, p.25.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1F1B, stage s runs P minus s forwards before its first backward, so with 4 stages the first stage holds the activations of 4 micro-batches at its peak and the last stage holds one. Kimi K2 calls out exactly this: the initial pipeline stages accumulate the largest activations during warm-up. The Megatron-Core report adds that activation memory does not decrease with expert or pipeline parallelism; those reduce parameter memory. Sources: Kimi K2 §2.4.3 p.8; arXiv 2603.07685 §4.1.5 Motivation p.24; Kimi K3 §5.2.2 (resident activations decrease with PP rank). Schedule drawn analytically, backward = 2 × forward.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recomputation keeps each layer's input on the GPU, so its peak is L times the layer input plus one layer's intermediates, growing with depth, and it costs about a third more compute. Transformer Engine's layer-level offloading cannot tell a cheap LayerNorm from an expensive expert fc1 input, so it offloads everything or nothing; Megatron's legacy cpu_offloading path even raises errors with pipeline parallelism or recomputation. Sources: arXiv 2603.07685 §4.1.4 p.22 and §4.1.5 p.24-25; transformer_config.py validation of cpu_offloading.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GPU's copy engines are independent of its compute engines. When a module's computation takes longer than moving its activation over PCIe or C2C, the device-to-host copy runs underneath the next module at no cost. That holds for compute-heavy modules such as expert fc1 or attention; norm and activation outputs are cheap to compute relative to their size, so their copies would be exposed, and they are better recomputed (schematic, not to scale). And in a pipelined schedule nothing is random: the forward and backward order of every module of every micro-batch is known in advance, so reloads can be issued exactly early enough. Source: arXiv 2603.07685 §4.1.5 "High-Level Idea: Overlap and Prefetch" p.24.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Fine-grained offloading works per module: each listed module's saved input goes to pinned host memory. It composes with fine-grained recomputation from deck 52: cheap norm and activation outputs are recomputed, expensive inputs such as Q, K, V, the attention output, the dispatched tokens and the fc1 output are offloaded. For moe_act both apply, freeing the whole fc1-to-activation chain. Megatron-Core lists pipeline-aware fine-grained activation offloading in its 2026/01 dev release. Sources: §4.1.5 Key Technical Features p.25; Megatron-LM docs fine_grained_activation_offloading.md; README What's New (MCore dev 2026/01).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when an offloaded module finishes, a dedicated D2H stream waits for it and copies the tensors autograd saved inside that module to pinned host memory, while the next module computes; the GPU copy is then freed. The last layer is kept, because its backward starts immediately. Backward: when a module of layer l finishes its backward, the H2D stream reloads the same module's tensors for layer l minus 1, and the compute stream waits on that reload event only when it needs the data. So only one extra activation per module type is resident. Sources: §4.1.5 Forward Pass / Backward Pass p.24; fine_grained_activation_offload.py on_group_commit_forward, on_group_start_backward, bulk_reload, post_warmup_callback (offload margin).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 creates one ChunkOffloadHandler per micro-batch and virtual-pipeline chunk and queues them so that popping during backward follows the interleaved 1F1B order: VPP stages first-in-last-out, micro-batches first-in-first-out. When a chunk has nothing left to reload, it pre-reloads the last layer of the next backward chunk. Higher PP ranks hold fewer micro-batches, so they can offload fewer bytes. Kimi K2 describes the same rhythm: during 1F1B, offload the forward activations of the previous micro-batch while prefetching the backward activations of the next, overlapped with compute and communication. Sources: §4.1.5 PP and VPP Handling p.25; fine_grained_activation_offload.py; docs tuning parameters; Kimi K2 §2.4.3 p.9 and Fig. 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Optimizer state is used once per iteration, in the step, yet sits in HBM through every forward and backward. State offloading keeps the step on the GPU: Adam's two moments and the FP32 master weights move to host memory after optimizer.step and are reloaded before the next one. The other option, Megatron's CPU optimizer, copies gradients to the host and runs the step there, then copies parameters back. With BF16 moments (deck 49) there is less to move. Sources: arXiv 2603.07685 §4.1.6 State Offloading p.26-27; Megatron-LM optimizer_config.py (dev) and docs optimizer_cpu_offload.md.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DeepSeek-V3 with the layout unchanged, offloading cuts per-GPU memory from 169 to 151 GB, 10.7%, while throughput drops from 945 to 930 TFLOPS per GPU, 1.6%. On Qwen3-235B the freed memory is spent on a better layout: TP1 with EP64 instead of TP2 with EP16, at 175 instead of 172 GB, and throughput rises from 800 to 920, 15.0%. The report summarizes 10 to 18% memory reduction for 1.6 to 2% throughput overhead. Source: §4.1.5 Performance and Table 5, p.25.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DeepSeek-V3, optimizer-state offload saves 15 to 20 GB per GPU, 47 to 62% of the 32.1 GB main-weights-and-optimizer budget, for 0.1 to 0.2 seconds per iteration, in the GB200 setting with NVLink-C2C. For long-context training of DeepSeek-V3 on 256 H100 at around 50% MFU and sequences of 16K or more, the report puts the worst-case overhead of optimizer CPU offloading at about 2%. GB200's final DeepSeek-V3 config uses optimizer offload so it only needs to recompute mlp (deck 52). Sources: §4.1.6 p.27; §6.2 p.58; §9.2.2 p.75.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K2, 1 trillion parameters on H800 nodes with 2 TB of RAM each, recomputes LayerNorm, SwiGLU, MLA up-projections and MoE down-projections, stores some activations in FP8, and offloads all remaining activations to CPU RAM with a copy engine overlapping compute and communication; PCIe traffic may slightly affect EP traffic, but EP communication stays fully overlapped in their tests. Kimi K3, 2.8T, treats recomputation, quantization, offload and remote offload as per-tensor storage policies, remotely offloads activations to the memory of other PP ranks with the Mooncake Transfer Engine to balance them, and keeps sharded gradients in CPU memory. Sources: Kimi K2 §2.4.1 p.7, §2.4.3 p.8-9; Kimi K3 abstract and §5.2.2 p.20.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Offload is free only while computation hides the copy; the report lists CPU overhead and non-overlapped copies as its trade-off, and state offload is most effective on GB200's NVLink-C2C. Kimi K2 notes PCIe congestion can slightly affect EP traffic. Activations go to a pinned CPU tensor pool, and the last layer's groups stay on the GPU. In Megatron the feature requires the Transformer Engine implementation and NVTE_CPU_OFFLOAD_V1=1 with TE 2.10 or newer; under CUDA graphs the norm inputs cannot be offloaded; the chunked optimizer-state offload does not support Megatron-FSDP (deck 70) and needs torch_dist checkpoints. Sources: Table 6 p.29; §4.1.6 p.26; Kimi K2 p.9; megatron/training/arguments.py; fine_grained_activation_offloading.md.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Pipeline-aware offload turns idle host memory and idle copy engines into GPU memory headroom, and spends it either on a smaller footprint or on a faster parallel layout. Family: deck 52 (fine-grained recompute), deck 53 (memory-efficient permutation), deck 46 (FP8 activations), deck 49 (precision-aware optimizer), deck 70 (Megatron-FSDP). Sources: arXiv 2603.07685 §4.1.5-4.1.6; Kimi K2 and K3 reports.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Pipeline-Aware Offload</a:t>
            </a:r>
          </a:p>
          <a:p>
            <a:pPr>
              <a:spcBef>
                <a:spcPts val="600"/>
              </a:spcBef>
            </a:pPr>
            <a:r>
              <a:rPr sz="2600" b="0" i="0">
                <a:solidFill>
                  <a:srgbClr val="222222"/>
                </a:solidFill>
                <a:latin typeface="Calibri"/>
              </a:rPr>
              <a:t>Activations and optimizer state to host memory, on the pipeline clock</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Megatron-Core · Moonshot Kimi K2 / K3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Memory &amp; Offload Scheduling · arxiv.org/abs/2603.07685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Activations and optimizer state overflow HBM</a:t>
            </a:r>
          </a:p>
        </p:txBody>
      </p:sp>
      <p:pic>
        <p:nvPicPr>
          <p:cNvPr id="3" name="Picture 2" descr="mem_stack.png"/>
          <p:cNvPicPr>
            <a:picLocks noChangeAspect="1"/>
          </p:cNvPicPr>
          <p:nvPr/>
        </p:nvPicPr>
        <p:blipFill>
          <a:blip r:embed="rId2"/>
          <a:stretch>
            <a:fillRect/>
          </a:stretch>
        </p:blipFill>
        <p:spPr>
          <a:xfrm>
            <a:off x="1008458" y="1463040"/>
            <a:ext cx="10174778"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(685B total, 37B active), BF16, PP4 × VPP4 × EP64 on 256 GPUs (Megatron-Core Table 3)</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Meanwhile Kimi K2's H800 nodes carry 2 TB of host RAM per 8 GPUs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Memory, not speed, picks the parallel layout</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Qwen3-235B throughput forgone while memory pins it at TP2 / EP16 (800 TF/s) instead of TP1 / EP64 (920 TF/s)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technical report, arXiv 2603.07685, §4.1.5 and Table 5 (p.25)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Activations pile up on the first pipeline stage</a:t>
            </a:r>
          </a:p>
        </p:txBody>
      </p:sp>
      <p:pic>
        <p:nvPicPr>
          <p:cNvPr id="3" name="Picture 2" descr="fig_inflight.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EP and PP cut parameters per GPU, not this activation pile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Full recompute and layer offload both fall short</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Full recompute</a:t>
            </a:r>
          </a:p>
          <a:p>
            <a:pPr marL="320040" indent="-292608">
              <a:spcAft>
                <a:spcPts val="1080"/>
              </a:spcAft>
              <a:buChar char="•"/>
            </a:pPr>
            <a:r>
              <a:rPr sz="2400" b="0" i="0">
                <a:solidFill>
                  <a:srgbClr val="222222"/>
                </a:solidFill>
                <a:latin typeface="Calibri"/>
              </a:rPr>
              <a:t>Keeps every layer's input: </a:t>
            </a:r>
            <a:r>
              <a:rPr sz="2400" b="1" i="0">
                <a:solidFill>
                  <a:srgbClr val="C00000"/>
                </a:solidFill>
                <a:latin typeface="Calibri"/>
              </a:rPr>
              <a:t>L × layer input</a:t>
            </a:r>
            <a:r>
              <a:rPr sz="2400" b="0" i="0">
                <a:solidFill>
                  <a:srgbClr val="222222"/>
                </a:solidFill>
                <a:latin typeface="Calibri"/>
              </a:rPr>
              <a:t> on GPU</a:t>
            </a:r>
          </a:p>
          <a:p>
            <a:pPr marL="320040" indent="-292608">
              <a:spcAft>
                <a:spcPts val="1080"/>
              </a:spcAft>
              <a:buChar char="•"/>
            </a:pPr>
            <a:r>
              <a:rPr sz="2400" b="0" i="0">
                <a:solidFill>
                  <a:srgbClr val="222222"/>
                </a:solidFill>
                <a:latin typeface="Calibri"/>
              </a:rPr>
              <a:t>~33% more compute, replays all-to-all (deck 52)</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Layer-level offload</a:t>
            </a:r>
            <a:r>
              <a:rPr sz="2400" b="0" i="0">
                <a:solidFill>
                  <a:srgbClr val="222222"/>
                </a:solidFill>
                <a:latin typeface="Calibri"/>
              </a:rPr>
              <a:t> (TE)</a:t>
            </a:r>
          </a:p>
          <a:p>
            <a:pPr marL="320040" indent="-292608">
              <a:spcAft>
                <a:spcPts val="1080"/>
              </a:spcAft>
              <a:buChar char="•"/>
            </a:pPr>
            <a:r>
              <a:rPr sz="2400" b="1" i="0">
                <a:solidFill>
                  <a:srgbClr val="C00000"/>
                </a:solidFill>
                <a:latin typeface="Calibri"/>
              </a:rPr>
              <a:t>All or nothing</a:t>
            </a:r>
            <a:r>
              <a:rPr sz="2400" b="0" i="0">
                <a:solidFill>
                  <a:srgbClr val="222222"/>
                </a:solidFill>
                <a:latin typeface="Calibri"/>
              </a:rPr>
              <a:t> per layer</a:t>
            </a:r>
          </a:p>
          <a:p>
            <a:pPr marL="320040" indent="-292608">
              <a:spcAft>
                <a:spcPts val="1080"/>
              </a:spcAft>
              <a:buChar char="•"/>
            </a:pPr>
            <a:r>
              <a:rPr sz="2400" b="0" i="0">
                <a:solidFill>
                  <a:srgbClr val="222222"/>
                </a:solidFill>
                <a:latin typeface="Calibri"/>
              </a:rPr>
              <a:t>Legacy path rejects PP &gt; 1 and recompute</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per-module choice, timed by the pipeline schedule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copies are free while a module computes</a:t>
            </a:r>
          </a:p>
        </p:txBody>
      </p:sp>
      <p:pic>
        <p:nvPicPr>
          <p:cNvPr id="3" name="Picture 2" descr="fig_hide.png"/>
          <p:cNvPicPr>
            <a:picLocks noChangeAspect="1"/>
          </p:cNvPicPr>
          <p:nvPr/>
        </p:nvPicPr>
        <p:blipFill>
          <a:blip r:embed="rId2"/>
          <a:stretch>
            <a:fillRect/>
          </a:stretch>
        </p:blipFill>
        <p:spPr>
          <a:xfrm>
            <a:off x="5873959" y="1714352"/>
            <a:ext cx="5769095" cy="3154974"/>
          </a:xfrm>
          <a:prstGeom prst="rect">
            <a:avLst/>
          </a:prstGeom>
        </p:spPr>
      </p:pic>
      <p:sp>
        <p:nvSpPr>
          <p:cNvPr id="4" name="TextBox 3"/>
          <p:cNvSpPr txBox="1"/>
          <p:nvPr/>
        </p:nvSpPr>
        <p:spPr>
          <a:xfrm>
            <a:off x="548640" y="1463040"/>
            <a:ext cx="4959559"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Copy engine runs beside the SMs: hidden if compute outlasts the copy</a:t>
            </a:r>
          </a:p>
          <a:p>
            <a:pPr marL="320040" indent="-292608">
              <a:spcAft>
                <a:spcPts val="1080"/>
              </a:spcAft>
              <a:buChar char="•"/>
            </a:pPr>
            <a:r>
              <a:rPr sz="2400" b="0" i="0">
                <a:solidFill>
                  <a:srgbClr val="222222"/>
                </a:solidFill>
                <a:latin typeface="Calibri"/>
              </a:rPr>
              <a:t>1F1B fixes when each activation returns</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Offload heavy modules' inputs after forward; reload just before backward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Offload heavy inputs, recompute cheap outputs</a:t>
            </a:r>
          </a:p>
        </p:txBody>
      </p:sp>
      <p:pic>
        <p:nvPicPr>
          <p:cNvPr id="3" name="Picture 2" descr="fig_policy.png"/>
          <p:cNvPicPr>
            <a:picLocks noChangeAspect="1"/>
          </p:cNvPicPr>
          <p:nvPr/>
        </p:nvPicPr>
        <p:blipFill>
          <a:blip r:embed="rId2"/>
          <a:stretch>
            <a:fillRect/>
          </a:stretch>
        </p:blipFill>
        <p:spPr>
          <a:xfrm>
            <a:off x="548640" y="1584279"/>
            <a:ext cx="11094415" cy="405520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800" b="0" i="1">
                <a:solidFill>
                  <a:srgbClr val="6E6E6E"/>
                </a:solidFill>
                <a:latin typeface="Menlo"/>
              </a:rPr>
              <a:t>--offload-modules core_attn attn_proj expert_fc1 moe_act</a:t>
            </a:r>
            <a:r>
              <a:rPr sz="1400" b="0" i="1">
                <a:solidFill>
                  <a:srgbClr val="6E6E6E"/>
                </a:solidFill>
                <a:latin typeface="Calibri"/>
              </a:rPr>
              <a:t> with </a:t>
            </a:r>
            <a:r>
              <a:rPr sz="1800" b="0" i="1">
                <a:solidFill>
                  <a:srgbClr val="6E6E6E"/>
                </a:solidFill>
                <a:latin typeface="Menlo"/>
              </a:rPr>
              <a:t>--recompute-modules layernorm moe_act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Copy out after forward, back one layer early</a:t>
            </a:r>
          </a:p>
        </p:txBody>
      </p:sp>
      <p:pic>
        <p:nvPicPr>
          <p:cNvPr id="3" name="Picture 2" descr="fig_streams_1.png"/>
          <p:cNvPicPr>
            <a:picLocks noChangeAspect="1"/>
          </p:cNvPicPr>
          <p:nvPr/>
        </p:nvPicPr>
        <p:blipFill>
          <a:blip r:embed="rId2"/>
          <a:stretch>
            <a:fillRect/>
          </a:stretch>
        </p:blipFill>
        <p:spPr>
          <a:xfrm>
            <a:off x="548640" y="2121033"/>
            <a:ext cx="11094415" cy="3347452"/>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Copy out after forward, back one layer early</a:t>
            </a:r>
          </a:p>
        </p:txBody>
      </p:sp>
      <p:pic>
        <p:nvPicPr>
          <p:cNvPr id="3" name="Picture 2" descr="fig_streams_2.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last layer stays on GPU; one reload per module type is in flight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1F1B schedule decides what moves when</a:t>
            </a:r>
          </a:p>
        </p:txBody>
      </p:sp>
      <p:pic>
        <p:nvPicPr>
          <p:cNvPr id="3" name="Picture 2" descr="fig_1f1b.png"/>
          <p:cNvPicPr>
            <a:picLocks noChangeAspect="1"/>
          </p:cNvPicPr>
          <p:nvPr/>
        </p:nvPicPr>
        <p:blipFill>
          <a:blip r:embed="rId2"/>
          <a:stretch>
            <a:fillRect/>
          </a:stretch>
        </p:blipFill>
        <p:spPr>
          <a:xfrm>
            <a:off x="792327" y="1463040"/>
            <a:ext cx="10607039"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One handler per micro-batch × VPP chunk; later PP ranks offload less (</a:t>
            </a:r>
            <a:r>
              <a:rPr sz="1800" b="0" i="1">
                <a:solidFill>
                  <a:srgbClr val="6E6E6E"/>
                </a:solidFill>
                <a:latin typeface="Menlo"/>
              </a:rPr>
              <a:t>--delta-offload-bytes-across-pp-ranks</a:t>
            </a:r>
            <a:r>
              <a:rPr sz="1400" b="0" i="1">
                <a:solidFill>
                  <a:srgbClr val="6E6E6E"/>
                </a:solidFill>
                <a:latin typeface="Calibri"/>
              </a:rPr>
              <a:t>)</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Kimi K2: offload the previous forward, prefetch the next backward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Optimizer state leaves HBM between steps</a:t>
            </a:r>
          </a:p>
        </p:txBody>
      </p:sp>
      <p:pic>
        <p:nvPicPr>
          <p:cNvPr id="3" name="Picture 2" descr="fig_optimizer.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800" b="0" i="1">
                <a:solidFill>
                  <a:srgbClr val="6E6E6E"/>
                </a:solidFill>
                <a:latin typeface="Menlo"/>
              </a:rPr>
              <a:t>--offload-optimizer-states</a:t>
            </a:r>
            <a:r>
              <a:rPr sz="1400" b="0" i="1">
                <a:solidFill>
                  <a:srgbClr val="6E6E6E"/>
                </a:solidFill>
                <a:latin typeface="Calibri"/>
              </a:rPr>
              <a:t> (dev branch; now </a:t>
            </a:r>
            <a:r>
              <a:rPr sz="1800" b="0" i="1">
                <a:solidFill>
                  <a:srgbClr val="6E6E6E"/>
                </a:solidFill>
                <a:latin typeface="Menlo"/>
              </a:rPr>
              <a:t>--chunked-optimizer-state-offload</a:t>
            </a:r>
            <a:r>
              <a:rPr sz="1400" b="0" i="1">
                <a:solidFill>
                  <a:srgbClr val="6E6E6E"/>
                </a:solidFill>
                <a:latin typeface="Calibri"/>
              </a:rPr>
              <a:t>) vs </a:t>
            </a:r>
            <a:r>
              <a:rPr sz="1800" b="0" i="1">
                <a:solidFill>
                  <a:srgbClr val="6E6E6E"/>
                </a:solidFill>
                <a:latin typeface="Menlo"/>
              </a:rPr>
              <a:t>--optimizer-cpu-offload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Offload costs 1.6% speed, or buys back 15%</a:t>
            </a:r>
          </a:p>
        </p:txBody>
      </p:sp>
      <p:pic>
        <p:nvPicPr>
          <p:cNvPr id="3" name="Picture 2" descr="offload_table5.png"/>
          <p:cNvPicPr>
            <a:picLocks noChangeAspect="1"/>
          </p:cNvPicPr>
          <p:nvPr/>
        </p:nvPicPr>
        <p:blipFill>
          <a:blip r:embed="rId2"/>
          <a:stretch>
            <a:fillRect/>
          </a:stretch>
        </p:blipFill>
        <p:spPr>
          <a:xfrm>
            <a:off x="2311948" y="1463040"/>
            <a:ext cx="7567799"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Table 5. DeepSeek-V3: TP1 PP8 EP32 VPP4, MXFP8. *Qwen3-235B moves from TP2 / EP16 to TP1 / EP64 when offload is on</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Across configurations: 10–18% less memory for 1.6–2% throughput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Optimizer offload frees 15–20 GB per GPU</a:t>
            </a:r>
          </a:p>
        </p:txBody>
      </p:sp>
      <p:pic>
        <p:nvPicPr>
          <p:cNvPr id="3" name="Picture 2" descr="toolbox.png"/>
          <p:cNvPicPr>
            <a:picLocks noChangeAspect="1"/>
          </p:cNvPicPr>
          <p:nvPr/>
        </p:nvPicPr>
        <p:blipFill>
          <a:blip r:embed="rId2"/>
          <a:stretch>
            <a:fillRect/>
          </a:stretch>
        </p:blipFill>
        <p:spPr>
          <a:xfrm>
            <a:off x="548640" y="1535019"/>
            <a:ext cx="11094415" cy="3147881"/>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Each saving is reported separately against the 199.5 GB BF16 baseline (Table 3); they do not simply add up</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Long context, DeepSeek-V3 on 256 H100: worst-case overhead about 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Kimi K2 and K3 offload the rest at trillion scale</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Kimi K2</a:t>
            </a:r>
            <a:r>
              <a:rPr sz="2400" b="0" i="0">
                <a:solidFill>
                  <a:srgbClr val="222222"/>
                </a:solidFill>
                <a:latin typeface="Calibri"/>
              </a:rPr>
              <a:t> (1T, H800)</a:t>
            </a:r>
          </a:p>
          <a:p>
            <a:pPr marL="320040" indent="-292608">
              <a:spcAft>
                <a:spcPts val="1080"/>
              </a:spcAft>
              <a:buChar char="•"/>
            </a:pPr>
            <a:r>
              <a:rPr sz="2400" b="0" i="0">
                <a:solidFill>
                  <a:srgbClr val="222222"/>
                </a:solidFill>
                <a:latin typeface="Calibri"/>
              </a:rPr>
              <a:t>Recompute, FP8, then offload the rest</a:t>
            </a:r>
          </a:p>
          <a:p>
            <a:pPr marL="320040" indent="-292608">
              <a:spcAft>
                <a:spcPts val="1080"/>
              </a:spcAft>
              <a:buChar char="•"/>
            </a:pPr>
            <a:r>
              <a:rPr sz="2400" b="0" i="0">
                <a:solidFill>
                  <a:srgbClr val="222222"/>
                </a:solidFill>
                <a:latin typeface="Calibri"/>
              </a:rPr>
              <a:t>EP stays fully overlapped</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Kimi K3</a:t>
            </a:r>
            <a:r>
              <a:rPr sz="2400" b="0" i="0">
                <a:solidFill>
                  <a:srgbClr val="222222"/>
                </a:solidFill>
                <a:latin typeface="Calibri"/>
              </a:rPr>
              <a:t> (2.8T)</a:t>
            </a:r>
          </a:p>
          <a:p>
            <a:pPr marL="320040" indent="-292608">
              <a:spcAft>
                <a:spcPts val="1080"/>
              </a:spcAft>
              <a:buChar char="•"/>
            </a:pPr>
            <a:r>
              <a:rPr sz="2400" b="0" i="0">
                <a:solidFill>
                  <a:srgbClr val="222222"/>
                </a:solidFill>
                <a:latin typeface="Calibri"/>
              </a:rPr>
              <a:t>Offload or remote-offload per tensor</a:t>
            </a:r>
          </a:p>
          <a:p>
            <a:pPr marL="320040" indent="-292608">
              <a:spcAft>
                <a:spcPts val="1080"/>
              </a:spcAft>
              <a:buChar char="•"/>
            </a:pPr>
            <a:r>
              <a:rPr sz="2400" b="0" i="0">
                <a:solidFill>
                  <a:srgbClr val="222222"/>
                </a:solidFill>
                <a:latin typeface="Calibri"/>
              </a:rPr>
              <a:t>Balances PP ranks' activations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Recompute what is cheap, compress what is safe, offload the rest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bandwidth, host memory, constraints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Copy bandwidth</a:t>
            </a:r>
            <a:r>
              <a:rPr sz="2400" b="0" i="0">
                <a:solidFill>
                  <a:srgbClr val="222222"/>
                </a:solidFill>
                <a:latin typeface="Calibri"/>
              </a:rPr>
              <a:t>: compute must outlast the copy</a:t>
            </a:r>
          </a:p>
          <a:p>
            <a:pPr marL="320040" indent="-292608">
              <a:spcAft>
                <a:spcPts val="1080"/>
              </a:spcAft>
              <a:buChar char="•"/>
            </a:pPr>
            <a:r>
              <a:rPr sz="2400" b="0" i="0">
                <a:solidFill>
                  <a:srgbClr val="222222"/>
                </a:solidFill>
                <a:latin typeface="Calibri"/>
              </a:rPr>
              <a:t>PCIe traffic can touch EP (Kimi K2)</a:t>
            </a:r>
          </a:p>
          <a:p>
            <a:pPr marL="320040" indent="-292608">
              <a:spcAft>
                <a:spcPts val="1080"/>
              </a:spcAft>
              <a:buChar char="•"/>
            </a:pPr>
            <a:r>
              <a:rPr sz="2400" b="0" i="0">
                <a:solidFill>
                  <a:srgbClr val="222222"/>
                </a:solidFill>
                <a:latin typeface="Calibri"/>
              </a:rPr>
              <a:t>Pinned host pool; last layer stays on GPU</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Needs TE; </a:t>
            </a:r>
            <a:r>
              <a:rPr sz="2200" b="0" i="0">
                <a:solidFill>
                  <a:srgbClr val="222222"/>
                </a:solidFill>
                <a:latin typeface="Menlo"/>
              </a:rPr>
              <a:t>NVTE_CPU_OFFLOAD_V1=1</a:t>
            </a:r>
            <a:r>
              <a:rPr sz="2400" b="0" i="0">
                <a:solidFill>
                  <a:srgbClr val="222222"/>
                </a:solidFill>
                <a:latin typeface="Calibri"/>
              </a:rPr>
              <a:t> on TE ≥ 2.10</a:t>
            </a:r>
          </a:p>
          <a:p>
            <a:pPr marL="320040" indent="-292608">
              <a:spcAft>
                <a:spcPts val="1080"/>
              </a:spcAft>
              <a:buChar char="•"/>
            </a:pPr>
            <a:r>
              <a:rPr sz="2400" b="0" i="0">
                <a:solidFill>
                  <a:srgbClr val="222222"/>
                </a:solidFill>
                <a:latin typeface="Calibri"/>
              </a:rPr>
              <a:t>CUDA graphs: no </a:t>
            </a:r>
            <a:r>
              <a:rPr sz="2200" b="0" i="0">
                <a:solidFill>
                  <a:srgbClr val="222222"/>
                </a:solidFill>
                <a:latin typeface="Menlo"/>
              </a:rPr>
              <a:t>attn_norm</a:t>
            </a:r>
            <a:r>
              <a:rPr sz="2400" b="0" i="0">
                <a:solidFill>
                  <a:srgbClr val="222222"/>
                </a:solidFill>
                <a:latin typeface="Calibri"/>
              </a:rPr>
              <a:t> / </a:t>
            </a:r>
            <a:r>
              <a:rPr sz="2200" b="0" i="0">
                <a:solidFill>
                  <a:srgbClr val="222222"/>
                </a:solidFill>
                <a:latin typeface="Menlo"/>
              </a:rPr>
              <a:t>mlp_norm</a:t>
            </a:r>
          </a:p>
          <a:p>
            <a:pPr marL="320040" indent="-292608">
              <a:spcAft>
                <a:spcPts val="1080"/>
              </a:spcAft>
              <a:buChar char="•"/>
            </a:pPr>
            <a:r>
              <a:rPr sz="2400" b="0" i="0">
                <a:solidFill>
                  <a:srgbClr val="222222"/>
                </a:solidFill>
                <a:latin typeface="Calibri"/>
              </a:rPr>
              <a:t>State offload: no Megatron-FSDP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Memory pins Qwen3-235B at TP2: </a:t>
            </a:r>
            <a:r>
              <a:rPr sz="2400" b="1" i="0">
                <a:solidFill>
                  <a:srgbClr val="222222"/>
                </a:solidFill>
                <a:latin typeface="Calibri"/>
              </a:rPr>
              <a:t>15%</a:t>
            </a:r>
            <a:r>
              <a:rPr sz="2400" b="0" i="0">
                <a:solidFill>
                  <a:srgbClr val="222222"/>
                </a:solidFill>
                <a:latin typeface="Calibri"/>
              </a:rPr>
              <a:t> throughput forgone</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copies hide under compute; 1F1B says when to move</a:t>
            </a:r>
          </a:p>
          <a:p>
            <a:pPr marL="320040" indent="-292608">
              <a:spcAft>
                <a:spcPts val="1080"/>
              </a:spcAft>
              <a:buChar char="•"/>
            </a:pPr>
            <a:r>
              <a:rPr sz="2400" b="0" i="0">
                <a:solidFill>
                  <a:srgbClr val="222222"/>
                </a:solidFill>
                <a:latin typeface="Calibri"/>
              </a:rPr>
              <a:t>Module-level offload, layer-staggered reload, per-chunk handlers, state offload</a:t>
            </a:r>
          </a:p>
          <a:p>
            <a:pPr marL="320040" indent="-292608">
              <a:spcAft>
                <a:spcPts val="1080"/>
              </a:spcAft>
              <a:buChar char="•"/>
            </a:pPr>
            <a:r>
              <a:rPr sz="2400" b="1" i="0">
                <a:solidFill>
                  <a:srgbClr val="222222"/>
                </a:solidFill>
                <a:latin typeface="Calibri"/>
              </a:rPr>
              <a:t>−10.7%</a:t>
            </a:r>
            <a:r>
              <a:rPr sz="2400" b="0" i="0">
                <a:solidFill>
                  <a:srgbClr val="222222"/>
                </a:solidFill>
                <a:latin typeface="Calibri"/>
              </a:rPr>
              <a:t> memory for </a:t>
            </a:r>
            <a:r>
              <a:rPr sz="2400" b="1" i="0">
                <a:solidFill>
                  <a:srgbClr val="222222"/>
                </a:solidFill>
                <a:latin typeface="Calibri"/>
              </a:rPr>
              <a:t>−1.6%</a:t>
            </a:r>
            <a:r>
              <a:rPr sz="2400" b="0" i="0">
                <a:solidFill>
                  <a:srgbClr val="222222"/>
                </a:solidFill>
                <a:latin typeface="Calibri"/>
              </a:rPr>
              <a:t> speed; </a:t>
            </a:r>
            <a:r>
              <a:rPr sz="2400" b="1" i="0">
                <a:solidFill>
                  <a:srgbClr val="222222"/>
                </a:solidFill>
                <a:latin typeface="Calibri"/>
              </a:rPr>
              <a:t>+15%</a:t>
            </a:r>
            <a:r>
              <a:rPr sz="2400" b="0" i="0">
                <a:solidFill>
                  <a:srgbClr val="222222"/>
                </a:solidFill>
                <a:latin typeface="Calibri"/>
              </a:rPr>
              <a:t> via TP1; </a:t>
            </a:r>
            <a:r>
              <a:rPr sz="2400" b="1" i="0">
                <a:solidFill>
                  <a:srgbClr val="222222"/>
                </a:solidFill>
                <a:latin typeface="Calibri"/>
              </a:rPr>
              <a:t>15–20 GB</a:t>
            </a:r>
            <a:r>
              <a:rPr sz="2400" b="0" i="0">
                <a:solidFill>
                  <a:srgbClr val="222222"/>
                </a:solidFill>
                <a:latin typeface="Calibri"/>
              </a:rPr>
              <a:t> of optimizer state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