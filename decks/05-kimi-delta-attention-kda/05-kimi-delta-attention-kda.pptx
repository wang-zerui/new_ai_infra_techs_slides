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Kimi K3 is a 2.8T-parameter MoE with 104B activated parameters and a 1M-token context. Its sequence mixer is a layerwise hybrid: every block has three Kimi Delta Attention layers and one Gated MLA layer, plus one extra MLA layer at the very end, so 69 of the 93 attention layers are KDA. This deck explains what a KDA layer computes; deck 08 covers its kernel and deck 69 how it is split across GPUs. Sources: K3 report abstract, Sec. 2.1, Table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cost KDA attacks. In the Kimi Linear paper's 48B-A3B setting, a full-attention MLA model needs 11.48 ms per output token when the context is one million tokens, because every new token reads a KV cache that has grown with every previous token. Prefill is worse still: attention FLOPs grow as 2 T squared d per head. K2 used 61 MLA layers; K3 trains at 1M context, 8 times K2's 128K. Sources: Kimi Linear Fig. 1b and Eq. 14; K3 Table 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Softmax attention keeps one cache entry per token, so memory and per-token reads grow without bound. Vanilla linear attention keeps a fixed d_k by d_v matrix but only ever adds k v-transpose, so with more than d_k keys the writes collide and nothing is ever erased. Mamba2 and Gated DeltaNet add a forget gate, but it is one scalar per head, so every feature fades at the same rate. The capacity bound is from the Gated DeltaNet paper, Sec. 1; d_k = d_v = 128 is the Kimi Linear head size, Sec. 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the state as an associative memory that is trained online. DeltaNet showed that subtracting beta k k-transpose S and adding beta k v-transpose is exactly one gradient step on the reconstruction loss of S-transpose k against v. So the write is only the prediction error: if the memory already maps k to v, nothing changes. KDA adds a per-channel decay before the step. Algebraically this is K3 Eq. 1: S_t = (I - beta k k^T) Diag(alpha) S_{t-1} + beta k v^T. Sources: Kimi Linear Sec. 2.2, K3 Eq. 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head, the layer projects q, k and v through a short convolution and Swish, with L2 normalization on q and k. A sigmoid gives the write strength beta, and a low-rank projection gives one decay logit per key channel, which K3 maps through a bounded sigmoid. The state S is d_k by d_v; the output S-transpose q goes through head-wise RMSNorm and a sigmoid output gate, which K3 makes full rank. Sources: K3 Eq. 2, 5, 6 and Fig.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moves per token. Decay: Diag(alpha) scales each row of S, one rate per key channel, so stale features fade while others are kept. Predict: S-prime-transpose k is what the memory currently returns for this key; the error e is v minus that guess. Correct: add beta times k times e-transpose, a rank-1 write of only the error. The output is S-transpose q, and the state never grows. Toy 4 by 4 shades, not real values. Source: K3 Eq. 1 rearranged.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Gated DeltaNet and Mamba2 forget a whole head at one rate. KDA gives each key channel its own retention factor alpha in (0,1), like GLA. Kimi Linear shows the gated delta rule is a multiplicative positional encoding with a data-dependent transition, the analogue of RoPE's per-dimension frequencies, so K3 delegates all position information to KDA and runs every MLA layer without RoPE. The chart is analytic: alpha to the power distance for three illustrative constant decay rates, showing short, medium and long memory horizons. Evidence: Kimi Linear Sec. 5.1 synthetic tasks (palindrome, MQAR, stack; KDA highest accuracy from 256 to 2,048 tokens, Mamba2 fails) and Sec. 6.1; no exact accuracies quoted here.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Running the recurrence token by token would starve the GPU. The chunkwise form splits the sequence into chunks of C tokens, 64 in Kimi Linear. Inside a chunk, outputs are a causal-masked matrix product over pseudo-values U minus W S, where U and W come from the UT transform; across chunks, the queries read the incoming state, and only that d_k by d_v state is handed to the next chunk. The serial hand-off is what the FlashKDA kernel overlaps. Sources: K3 Eq. 3-4; Kimi Linear Eq. 8-9 and Sec. 6.3.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intra-chunk term divides keys by the cumulative decay Gamma, which can overflow. Kimi Linear computes in log space with 16-token sub-tiles; off-diagonal tiles become matmuls but diagonal tiles still need an explicit position-pair computation, the main intra-chunk bottleneck. K3 replaces the negative-softplus decay with g = g_min times sigmoid, g_min = -5: each alpha exceeds e^-5, about 6.7e-3, a tile's cumulative log-decay stays above -80, and e^80 fits in BF16, so every causal tile runs on Tensor Cores. Source: K3 Sec. 2.1.1, Eq. 5, Fig. 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Pure linear attention struggles with exact retrieval and copying, so K3 keeps a global Gated MLA layer after every three KDA layers. In the Kimi Linear ablation at equal FLOPs, 3:1 had the lowest validation perplexity, 5.65; all-MLA was 5.77, 7:1 5.70 and 15:1 5.82, while 1:1 matched quality at higher inference cost. K3 also places one more MLA layer at the end so the last layer is always global. Sources: Kimi Linear Table 1 and Sec. 5.2; K3 Sec. 2.1.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fair comparison is from Kimi Linear: three 48B-total, 3B-active MoE models trained on the same 1.4T tokens, differing only in attention. The KDA hybrid scores 51.0 on MMLU-Pro versus 47.2 for MLA, 84.3 versus 81.3 on RULER at 128K, and 54.5 versus 52.2 on the long-context average; GDN-H, with head-wise gates, falls behind MLA on long context. The scaling-law study gives about 1.16 times compute efficiency. Sources: Kimi Linear Tables 3 and 5, Fig. 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currency as the pain: time per output token at 1M context drops from 11.48 ms to 1.84 ms, 6.3 times, because the KDA layers keep a fixed state and the freed memory admits larger batches. At batch size 1 the gain is 2.2 times for decoding and 2.9 times for prefill at 1M; the text of Sec. 6.3 says 2.3 times for batch-1 decoding, the figure says 2.2. Below about 16K tokens prefill is on par with MLA. Sources: Kimi Linear Fig. 1b, Fig. 7, abstract.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2.8T parameters, K3 reports about 2.5 times better overall scaling efficiency than K2 on held-out validation loss. This is a joint result: KDA, Attention Residuals, Stable LatentMoE and refined data and training recipes together; the report gives no KDA-only ablation at this scale. Because positions come from KDA's decay, the context grows from 8K to 1M through a four-stage curriculum with no positional-encoding change. Siblings: AttnRes deck 59, Stable LatentMoE deck 57, context extension deck 06.</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KDA is not free. Its speed advantage appears only at long context; at 4K to 16K prefill matches MLA. The global MLA layers still keep a KV cache. The serial state forces dedicated machinery: the FlashKDA kernel (deck 08), KDA Context Parallelism (deck 69), prefix caching that checkpoints the recurrent state at 512-token hash boundaries, and input replay for speculative decoding. Finally, the measured speed and quality numbers in this deck come from the 48B Kimi Linear model; K3 reports no KDA-only ablation at 2.8T. Sources: Kimi Linear Sec. 5.6; K3 Sec. 5.1, 5.4.1, 5.4.2.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attention pays for every past token: 11.48 ms per output token at 1M context in the Kimi Linear setting. KDA turns a fixed-size state into a self-correcting memory: decay per key channel, then write only the prediction error. With three KDA layers per NoPE Gated MLA layer it decodes 6.3 times faster at 1M and beats full MLA at equal training tokens; K3 builds 69 of its 93 attention layers this way. Sources: Kimi Linear Fig. 1b, Tables 3 and 5; K3 Table 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Kimi Delta Attention (KDA)</a:t>
            </a:r>
          </a:p>
          <a:p>
            <a:pPr>
              <a:spcBef>
                <a:spcPts val="600"/>
              </a:spcBef>
            </a:pPr>
            <a:r>
              <a:rPr sz="2600" b="0" i="0">
                <a:solidFill>
                  <a:srgbClr val="222222"/>
                </a:solidFill>
                <a:latin typeface="Calibri"/>
              </a:rPr>
              <a:t>Delta-rule linear attention with per-channel forgetting</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Moonshot AI · Kimi K3 (KDA introduced in Kimi Linear)</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Attention &amp; Long Context · arxiv.org/abs/2607.24653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Kimi K3 runs 69 of 93 attention layers on KDA</a:t>
            </a:r>
          </a:p>
        </p:txBody>
      </p:sp>
      <p:pic>
        <p:nvPicPr>
          <p:cNvPr id="3" name="Picture 2" descr="fig_k3_stack.png"/>
          <p:cNvPicPr>
            <a:picLocks noChangeAspect="1"/>
          </p:cNvPicPr>
          <p:nvPr/>
        </p:nvPicPr>
        <p:blipFill>
          <a:blip r:embed="rId2"/>
          <a:stretch>
            <a:fillRect/>
          </a:stretch>
        </p:blipFill>
        <p:spPr>
          <a:xfrm>
            <a:off x="548640" y="1474651"/>
            <a:ext cx="11094415" cy="3634377"/>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2.8T-parameter MoE · 104B active · 1M-token context window</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Full attention pays for every past token</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11.48 ms</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per output token for a full-attention (MLA) model decoding at 1M context; its KV cache grows with every token</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Kimi Linear (arXiv 2510.26692) Fig. 1b: MLA baseline in the 48B-A3B setting (same layers and heads)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Growing caches and colliding writes both fail</a:t>
            </a:r>
          </a:p>
        </p:txBody>
      </p:sp>
      <p:pic>
        <p:nvPicPr>
          <p:cNvPr id="3" name="Picture 2" descr="fig_statusquo.png"/>
          <p:cNvPicPr>
            <a:picLocks noChangeAspect="1"/>
          </p:cNvPicPr>
          <p:nvPr/>
        </p:nvPicPr>
        <p:blipFill>
          <a:blip r:embed="rId2"/>
          <a:stretch>
            <a:fillRect/>
          </a:stretch>
        </p:blipFill>
        <p:spPr>
          <a:xfrm>
            <a:off x="548640" y="1474651"/>
            <a:ext cx="11094415" cy="3634377"/>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With 128-dim keys at most 128 orthogonal keys fit: what to forget must be learned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write only what memory gets wrong</a:t>
            </a:r>
          </a:p>
        </p:txBody>
      </p:sp>
      <p:pic>
        <p:nvPicPr>
          <p:cNvPr id="3" name="Picture 2" descr="fig_insight.png"/>
          <p:cNvPicPr>
            <a:picLocks noChangeAspect="1"/>
          </p:cNvPicPr>
          <p:nvPr/>
        </p:nvPicPr>
        <p:blipFill>
          <a:blip r:embed="rId2"/>
          <a:stretch>
            <a:fillRect/>
          </a:stretch>
        </p:blipFill>
        <p:spPr>
          <a:xfrm>
            <a:off x="6095847" y="1637409"/>
            <a:ext cx="5547207" cy="3308860"/>
          </a:xfrm>
          <a:prstGeom prst="rect">
            <a:avLst/>
          </a:prstGeom>
        </p:spPr>
      </p:pic>
      <p:sp>
        <p:nvSpPr>
          <p:cNvPr id="4" name="TextBox 3"/>
          <p:cNvSpPr txBox="1"/>
          <p:nvPr/>
        </p:nvSpPr>
        <p:spPr>
          <a:xfrm>
            <a:off x="548640" y="1463040"/>
            <a:ext cx="5181447"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Delta rule = one gradient step on ‖Sᵀk − v‖²</a:t>
            </a:r>
          </a:p>
          <a:p>
            <a:pPr marL="320040" indent="-292608">
              <a:spcAft>
                <a:spcPts val="1080"/>
              </a:spcAft>
              <a:buChar char="•"/>
            </a:pPr>
            <a:r>
              <a:rPr sz="2400" b="0" i="0">
                <a:solidFill>
                  <a:srgbClr val="222222"/>
                </a:solidFill>
                <a:latin typeface="Calibri"/>
              </a:rPr>
              <a:t>Decay each key channel, then write the error</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 = Diag(α)·S, then S ← S′ + β·k·(v − S′ᵀk)ᵀ: size never grows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One KDA layer: gated inputs, one fixed state</a:t>
            </a:r>
          </a:p>
        </p:txBody>
      </p:sp>
      <p:pic>
        <p:nvPicPr>
          <p:cNvPr id="3" name="Picture 2" descr="fig_overview.png"/>
          <p:cNvPicPr>
            <a:picLocks noChangeAspect="1"/>
          </p:cNvPicPr>
          <p:nvPr/>
        </p:nvPicPr>
        <p:blipFill>
          <a:blip r:embed="rId2"/>
          <a:stretch>
            <a:fillRect/>
          </a:stretch>
        </p:blipFill>
        <p:spPr>
          <a:xfrm>
            <a:off x="548640" y="1699049"/>
            <a:ext cx="11094415" cy="382566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❶ state update · ❷ chunkwise execution · ❸ 3:1 hybrid with Gated MLA; blue = KDA-specific parts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Each token: decay, predict, correct</a:t>
            </a:r>
          </a:p>
        </p:txBody>
      </p:sp>
      <p:pic>
        <p:nvPicPr>
          <p:cNvPr id="3" name="Picture 2" descr="fig_delta_1.png"/>
          <p:cNvPicPr>
            <a:picLocks noChangeAspect="1"/>
          </p:cNvPicPr>
          <p:nvPr/>
        </p:nvPicPr>
        <p:blipFill>
          <a:blip r:embed="rId2"/>
          <a:stretch>
            <a:fillRect/>
          </a:stretch>
        </p:blipFill>
        <p:spPr>
          <a:xfrm>
            <a:off x="1274465" y="1463040"/>
            <a:ext cx="9642763"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Same as K3 Eq. 1: new S = (I − β·k·kᵀ)·Diag(α)·old S + β·k·vᵀ</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Each token: decay, predict, correct</a:t>
            </a:r>
          </a:p>
        </p:txBody>
      </p:sp>
      <p:pic>
        <p:nvPicPr>
          <p:cNvPr id="3" name="Picture 2" descr="fig_delta_2.png"/>
          <p:cNvPicPr>
            <a:picLocks noChangeAspect="1"/>
          </p:cNvPicPr>
          <p:nvPr/>
        </p:nvPicPr>
        <p:blipFill>
          <a:blip r:embed="rId2"/>
          <a:stretch>
            <a:fillRect/>
          </a:stretch>
        </p:blipFill>
        <p:spPr>
          <a:xfrm>
            <a:off x="1274465" y="1463040"/>
            <a:ext cx="9642763"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Same as K3 Eq. 1: new S = (I − β·k·kᵀ)·Diag(α)·old S + β·k·vᵀ</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Each token: decay, predict, correct</a:t>
            </a:r>
          </a:p>
        </p:txBody>
      </p:sp>
      <p:pic>
        <p:nvPicPr>
          <p:cNvPr id="3" name="Picture 2" descr="fig_delta_3.png"/>
          <p:cNvPicPr>
            <a:picLocks noChangeAspect="1"/>
          </p:cNvPicPr>
          <p:nvPr/>
        </p:nvPicPr>
        <p:blipFill>
          <a:blip r:embed="rId2"/>
          <a:stretch>
            <a:fillRect/>
          </a:stretch>
        </p:blipFill>
        <p:spPr>
          <a:xfrm>
            <a:off x="1274465" y="1463040"/>
            <a:ext cx="9642763"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Same as K3 Eq. 1: new S = (I − β·k·kᵀ)·Diag(α)·old S + β·k·vᵀ</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Per-channel decay also encodes position</a:t>
            </a:r>
          </a:p>
        </p:txBody>
      </p:sp>
      <p:pic>
        <p:nvPicPr>
          <p:cNvPr id="3" name="Picture 2" descr="chart_horizon.png"/>
          <p:cNvPicPr>
            <a:picLocks noChangeAspect="1"/>
          </p:cNvPicPr>
          <p:nvPr/>
        </p:nvPicPr>
        <p:blipFill>
          <a:blip r:embed="rId2"/>
          <a:stretch>
            <a:fillRect/>
          </a:stretch>
        </p:blipFill>
        <p:spPr>
          <a:xfrm>
            <a:off x="6064156" y="1463040"/>
            <a:ext cx="5055869" cy="3291839"/>
          </a:xfrm>
          <a:prstGeom prst="rect">
            <a:avLst/>
          </a:prstGeom>
        </p:spPr>
      </p:pic>
      <p:sp>
        <p:nvSpPr>
          <p:cNvPr id="4" name="TextBox 3"/>
          <p:cNvSpPr txBox="1"/>
          <p:nvPr/>
        </p:nvSpPr>
        <p:spPr>
          <a:xfrm>
            <a:off x="5541126" y="4754879"/>
            <a:ext cx="6101928"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constant α per channel for illustration</a:t>
            </a:r>
          </a:p>
        </p:txBody>
      </p:sp>
      <p:sp>
        <p:nvSpPr>
          <p:cNvPr id="5" name="TextBox 4"/>
          <p:cNvSpPr txBox="1"/>
          <p:nvPr/>
        </p:nvSpPr>
        <p:spPr>
          <a:xfrm>
            <a:off x="548640" y="1463040"/>
            <a:ext cx="4626726" cy="329183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One α per key channel, not per head</a:t>
            </a:r>
          </a:p>
          <a:p>
            <a:pPr marL="320040" indent="-292608">
              <a:spcAft>
                <a:spcPts val="1080"/>
              </a:spcAft>
              <a:buChar char="•"/>
            </a:pPr>
            <a:r>
              <a:rPr sz="2400" b="0" i="0">
                <a:solidFill>
                  <a:srgbClr val="222222"/>
                </a:solidFill>
                <a:latin typeface="Calibri"/>
              </a:rPr>
              <a:t>Channels keep short to long horizons, like RoPE frequencies</a:t>
            </a:r>
          </a:p>
          <a:p>
            <a:pPr marL="320040" indent="-292608">
              <a:spcAft>
                <a:spcPts val="1080"/>
              </a:spcAft>
              <a:buChar char="•"/>
            </a:pPr>
            <a:r>
              <a:rPr sz="2400" b="0" i="0">
                <a:solidFill>
                  <a:srgbClr val="222222"/>
                </a:solidFill>
                <a:latin typeface="Calibri"/>
              </a:rPr>
              <a:t>So all MLA layers drop RoPE (NoPE)</a:t>
            </a:r>
          </a:p>
        </p:txBody>
      </p:sp>
      <p:sp>
        <p:nvSpPr>
          <p:cNvPr id="6" name="Rounded Rectangle 5"/>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Synthetic recall and state tracking: KDA leads GDN at 256-2,048 tokens</a:t>
            </a:r>
          </a:p>
        </p:txBody>
      </p:sp>
      <p:sp>
        <p:nvSpPr>
          <p:cNvPr id="7" name="TextBox 6"/>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Chunks: parallel inside, recurrent across</a:t>
            </a:r>
          </a:p>
        </p:txBody>
      </p:sp>
      <p:pic>
        <p:nvPicPr>
          <p:cNvPr id="3" name="Picture 2" descr="fig_chunk.png"/>
          <p:cNvPicPr>
            <a:picLocks noChangeAspect="1"/>
          </p:cNvPicPr>
          <p:nvPr/>
        </p:nvPicPr>
        <p:blipFill>
          <a:blip r:embed="rId2"/>
          <a:stretch>
            <a:fillRect/>
          </a:stretch>
        </p:blipFill>
        <p:spPr>
          <a:xfrm>
            <a:off x="614173" y="1463040"/>
            <a:ext cx="10963348"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Kernel that overlaps the two phases: FlashKDA, deck 08</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Bounded decay: all tiles on Tensor Cores</a:t>
            </a:r>
          </a:p>
        </p:txBody>
      </p:sp>
      <p:pic>
        <p:nvPicPr>
          <p:cNvPr id="3" name="Picture 2" descr="fig_tiles.png"/>
          <p:cNvPicPr>
            <a:picLocks noChangeAspect="1"/>
          </p:cNvPicPr>
          <p:nvPr/>
        </p:nvPicPr>
        <p:blipFill>
          <a:blip r:embed="rId2"/>
          <a:stretch>
            <a:fillRect/>
          </a:stretch>
        </p:blipFill>
        <p:spPr>
          <a:xfrm>
            <a:off x="548640" y="1474651"/>
            <a:ext cx="11094415" cy="3634377"/>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Per-token g &gt; −5, so over a 16-token tile 1/Γ &lt; e⁸⁰: inside BF16 range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Three KDA layers per global MLA layer</a:t>
            </a:r>
          </a:p>
        </p:txBody>
      </p:sp>
      <p:pic>
        <p:nvPicPr>
          <p:cNvPr id="3" name="Picture 2" descr="chart_ratio.png"/>
          <p:cNvPicPr>
            <a:picLocks noChangeAspect="1"/>
          </p:cNvPicPr>
          <p:nvPr/>
        </p:nvPicPr>
        <p:blipFill>
          <a:blip r:embed="rId2"/>
          <a:stretch>
            <a:fillRect/>
          </a:stretch>
        </p:blipFill>
        <p:spPr>
          <a:xfrm>
            <a:off x="5541126" y="1647011"/>
            <a:ext cx="6101928" cy="4295497"/>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 finite state cannot copy exactly: keep some global layers</a:t>
            </a:r>
          </a:p>
          <a:p>
            <a:pPr marL="320040" indent="-292608">
              <a:spcAft>
                <a:spcPts val="1080"/>
              </a:spcAft>
              <a:buChar char="•"/>
            </a:pPr>
            <a:r>
              <a:rPr sz="2400" b="0" i="0">
                <a:solidFill>
                  <a:srgbClr val="222222"/>
                </a:solidFill>
                <a:latin typeface="Calibri"/>
              </a:rPr>
              <a:t>3:1 is best; 7:1 and 15:1 lose on validation</a:t>
            </a:r>
          </a:p>
          <a:p>
            <a:pPr marL="320040" indent="-292608">
              <a:spcAft>
                <a:spcPts val="1080"/>
              </a:spcAft>
              <a:buChar char="•"/>
            </a:pPr>
            <a:r>
              <a:rPr sz="2400" b="0" i="0">
                <a:solidFill>
                  <a:srgbClr val="222222"/>
                </a:solidFill>
                <a:latin typeface="Calibri"/>
              </a:rPr>
              <a:t>K3 adds one final MLA layer</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Same 1.4T tokens: KDA hybrid beats full MLA</a:t>
            </a:r>
          </a:p>
        </p:txBody>
      </p:sp>
      <p:pic>
        <p:nvPicPr>
          <p:cNvPr id="3" name="Picture 2" descr="chart_quality.png"/>
          <p:cNvPicPr>
            <a:picLocks noChangeAspect="1"/>
          </p:cNvPicPr>
          <p:nvPr/>
        </p:nvPicPr>
        <p:blipFill>
          <a:blip r:embed="rId2"/>
          <a:stretch>
            <a:fillRect/>
          </a:stretch>
        </p:blipFill>
        <p:spPr>
          <a:xfrm>
            <a:off x="5541126" y="1642476"/>
            <a:ext cx="6101928" cy="4304566"/>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48B-A3B MoE, identical data and recipe</a:t>
            </a:r>
          </a:p>
          <a:p>
            <a:pPr marL="320040" indent="-292608">
              <a:spcAft>
                <a:spcPts val="1080"/>
              </a:spcAft>
              <a:buChar char="•"/>
            </a:pPr>
            <a:r>
              <a:rPr sz="2400" b="0" i="0">
                <a:solidFill>
                  <a:srgbClr val="222222"/>
                </a:solidFill>
                <a:latin typeface="Calibri"/>
              </a:rPr>
              <a:t>Wins short and long context</a:t>
            </a:r>
          </a:p>
          <a:p>
            <a:pPr marL="320040" indent="-292608">
              <a:spcAft>
                <a:spcPts val="1080"/>
              </a:spcAft>
              <a:buChar char="•"/>
            </a:pPr>
            <a:r>
              <a:rPr sz="2400" b="0" i="0">
                <a:solidFill>
                  <a:srgbClr val="222222"/>
                </a:solidFill>
                <a:latin typeface="Calibri"/>
              </a:rPr>
              <a:t>Scaling-law fit: about </a:t>
            </a:r>
            <a:r>
              <a:rPr sz="2400" b="1" i="0">
                <a:solidFill>
                  <a:srgbClr val="222222"/>
                </a:solidFill>
                <a:latin typeface="Calibri"/>
              </a:rPr>
              <a:t>1.16×</a:t>
            </a:r>
            <a:r>
              <a:rPr sz="2400" b="0" i="0">
                <a:solidFill>
                  <a:srgbClr val="222222"/>
                </a:solidFill>
                <a:latin typeface="Calibri"/>
              </a:rPr>
              <a:t> compute efficiency over MLA</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Decodes 6.3× faster than MLA at 1M tokens</a:t>
            </a:r>
          </a:p>
        </p:txBody>
      </p:sp>
      <p:pic>
        <p:nvPicPr>
          <p:cNvPr id="3" name="Picture 2" descr="chart_decode.png"/>
          <p:cNvPicPr>
            <a:picLocks noChangeAspect="1"/>
          </p:cNvPicPr>
          <p:nvPr/>
        </p:nvPicPr>
        <p:blipFill>
          <a:blip r:embed="rId2"/>
          <a:stretch>
            <a:fillRect/>
          </a:stretch>
        </p:blipFill>
        <p:spPr>
          <a:xfrm>
            <a:off x="5541126" y="1696303"/>
            <a:ext cx="6101928" cy="4196912"/>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1.84 ms</a:t>
            </a:r>
            <a:r>
              <a:rPr sz="2400" b="0" i="0">
                <a:solidFill>
                  <a:srgbClr val="222222"/>
                </a:solidFill>
                <a:latin typeface="Calibri"/>
              </a:rPr>
              <a:t> vs 11.48 ms per token at 1M</a:t>
            </a:r>
          </a:p>
          <a:p>
            <a:pPr marL="320040" indent="-292608">
              <a:spcAft>
                <a:spcPts val="1080"/>
              </a:spcAft>
              <a:buChar char="•"/>
            </a:pPr>
            <a:r>
              <a:rPr sz="2400" b="0" i="0">
                <a:solidFill>
                  <a:srgbClr val="222222"/>
                </a:solidFill>
                <a:latin typeface="Calibri"/>
              </a:rPr>
              <a:t>Up to </a:t>
            </a:r>
            <a:r>
              <a:rPr sz="2400" b="1" i="0">
                <a:solidFill>
                  <a:srgbClr val="222222"/>
                </a:solidFill>
                <a:latin typeface="Calibri"/>
              </a:rPr>
              <a:t>75%</a:t>
            </a:r>
            <a:r>
              <a:rPr sz="2400" b="0" i="0">
                <a:solidFill>
                  <a:srgbClr val="222222"/>
                </a:solidFill>
                <a:latin typeface="Calibri"/>
              </a:rPr>
              <a:t> less KV cache allows larger batches</a:t>
            </a:r>
          </a:p>
          <a:p>
            <a:pPr marL="320040" indent="-292608">
              <a:spcAft>
                <a:spcPts val="1080"/>
              </a:spcAft>
              <a:buChar char="•"/>
            </a:pPr>
            <a:r>
              <a:rPr sz="2400" b="0" i="0">
                <a:solidFill>
                  <a:srgbClr val="222222"/>
                </a:solidFill>
                <a:latin typeface="Calibri"/>
              </a:rPr>
              <a:t>Batch size 1: 2.2× decode, 2.9× prefill at 1M</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At K3 scale: 2.5× scaling efficiency over K2</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1F4E79"/>
                </a:solidFill>
                <a:latin typeface="Calibri"/>
              </a:rPr>
              <a:t>≈2.5×</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Kimi K3 vs K2 scaling efficiency, from KDA + AttnRes + Stable LatentMoE + data and training recipes together</a:t>
            </a:r>
          </a:p>
        </p:txBody>
      </p:sp>
      <p:sp>
        <p:nvSpPr>
          <p:cNvPr id="5" name="TextBox 4"/>
          <p:cNvSpPr txBox="1"/>
          <p:nvPr/>
        </p:nvSpPr>
        <p:spPr>
          <a:xfrm>
            <a:off x="548640" y="4846320"/>
            <a:ext cx="11094415" cy="1188720"/>
          </a:xfrm>
          <a:prstGeom prst="rect">
            <a:avLst/>
          </a:prstGeom>
          <a:noFill/>
        </p:spPr>
        <p:txBody>
          <a:bodyPr wrap="square" lIns="45720" rIns="45720" tIns="27432" bIns="27432" anchor="t">
            <a:spAutoFit/>
          </a:bodyPr>
          <a:lstStyle/>
          <a:p>
            <a:pPr marL="320040" indent="-292608">
              <a:spcAft>
                <a:spcPts val="900"/>
              </a:spcAft>
              <a:buChar char="•"/>
            </a:pPr>
            <a:r>
              <a:rPr sz="2000" b="0" i="0">
                <a:solidFill>
                  <a:srgbClr val="222222"/>
                </a:solidFill>
                <a:latin typeface="Calibri"/>
              </a:rPr>
              <a:t>1M-token context with no RoPE rescaling or interpolation</a:t>
            </a:r>
          </a:p>
        </p:txBody>
      </p:sp>
      <p:sp>
        <p:nvSpPr>
          <p:cNvPr id="6" name="TextBox 5"/>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Kimi K3 report (arXiv 2607.24653): abstract, Sec. 3.2 and Fig. 7 (scaling laws), Sec. 3.4 (NoPE context extension)</a:t>
            </a:r>
          </a:p>
        </p:txBody>
      </p:sp>
      <p:sp>
        <p:nvSpPr>
          <p:cNvPr id="7" name="TextBox 6"/>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Costs: long context only, new kernels and caches</a:t>
            </a:r>
          </a:p>
        </p:txBody>
      </p:sp>
      <p:pic>
        <p:nvPicPr>
          <p:cNvPr id="3" name="Picture 2" descr="fig_costs.png"/>
          <p:cNvPicPr>
            <a:picLocks noChangeAspect="1"/>
          </p:cNvPicPr>
          <p:nvPr/>
        </p:nvPicPr>
        <p:blipFill>
          <a:blip r:embed="rId2"/>
          <a:stretch>
            <a:fillRect/>
          </a:stretch>
        </p:blipFill>
        <p:spPr>
          <a:xfrm>
            <a:off x="6095847" y="2117596"/>
            <a:ext cx="5547207" cy="3354327"/>
          </a:xfrm>
          <a:prstGeom prst="rect">
            <a:avLst/>
          </a:prstGeom>
        </p:spPr>
      </p:pic>
      <p:sp>
        <p:nvSpPr>
          <p:cNvPr id="4" name="TextBox 3"/>
          <p:cNvSpPr txBox="1"/>
          <p:nvPr/>
        </p:nvSpPr>
        <p:spPr>
          <a:xfrm>
            <a:off x="548640" y="1463040"/>
            <a:ext cx="518144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Gains need long context: prefill ≈ MLA at 4K-16K</a:t>
            </a:r>
          </a:p>
          <a:p>
            <a:pPr marL="320040" indent="-292608">
              <a:spcAft>
                <a:spcPts val="1080"/>
              </a:spcAft>
              <a:buChar char="•"/>
            </a:pPr>
            <a:r>
              <a:rPr sz="2400" b="0" i="0">
                <a:solidFill>
                  <a:srgbClr val="222222"/>
                </a:solidFill>
                <a:latin typeface="Calibri"/>
              </a:rPr>
              <a:t>24 MLA layers still keep a KV cache</a:t>
            </a:r>
          </a:p>
          <a:p>
            <a:pPr marL="320040" indent="-292608">
              <a:spcAft>
                <a:spcPts val="1080"/>
              </a:spcAft>
              <a:buChar char="•"/>
            </a:pPr>
            <a:r>
              <a:rPr sz="2400" b="0" i="0">
                <a:solidFill>
                  <a:srgbClr val="222222"/>
                </a:solidFill>
                <a:latin typeface="Calibri"/>
              </a:rPr>
              <a:t>No KDA-only ablation at K3 scale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Full attention at 1M: </a:t>
            </a:r>
            <a:r>
              <a:rPr sz="2400" b="1" i="0">
                <a:solidFill>
                  <a:srgbClr val="222222"/>
                </a:solidFill>
                <a:latin typeface="Calibri"/>
              </a:rPr>
              <a:t>11.48 ms</a:t>
            </a:r>
            <a:r>
              <a:rPr sz="2400" b="0" i="0">
                <a:solidFill>
                  <a:srgbClr val="222222"/>
                </a:solidFill>
                <a:latin typeface="Calibri"/>
              </a:rPr>
              <a:t> per token, cache grows with every token</a:t>
            </a:r>
          </a:p>
          <a:p>
            <a:pPr marL="320040" indent="-292608">
              <a:spcAft>
                <a:spcPts val="1080"/>
              </a:spcAft>
              <a:buChar char="•"/>
            </a:pPr>
            <a:r>
              <a:rPr sz="2400" b="1" i="0">
                <a:solidFill>
                  <a:srgbClr val="1F4E79"/>
                </a:solidFill>
                <a:latin typeface="Calibri"/>
              </a:rPr>
              <a:t>KDA</a:t>
            </a:r>
            <a:r>
              <a:rPr sz="2400" b="0" i="0">
                <a:solidFill>
                  <a:srgbClr val="222222"/>
                </a:solidFill>
                <a:latin typeface="Calibri"/>
              </a:rPr>
              <a:t>: per-channel decay, then write only the error into a fixed state</a:t>
            </a:r>
          </a:p>
          <a:p>
            <a:pPr marL="320040" indent="-292608">
              <a:spcAft>
                <a:spcPts val="1080"/>
              </a:spcAft>
              <a:buChar char="•"/>
            </a:pPr>
            <a:r>
              <a:rPr sz="2400" b="1" i="0">
                <a:solidFill>
                  <a:srgbClr val="222222"/>
                </a:solidFill>
                <a:latin typeface="Calibri"/>
              </a:rPr>
              <a:t>6.3×</a:t>
            </a:r>
            <a:r>
              <a:rPr sz="2400" b="0" i="0">
                <a:solidFill>
                  <a:srgbClr val="222222"/>
                </a:solidFill>
                <a:latin typeface="Calibri"/>
              </a:rPr>
              <a:t> faster decoding at 1M; better quality at equal tokens</a:t>
            </a:r>
          </a:p>
          <a:p>
            <a:pPr marL="320040" indent="-292608">
              <a:spcAft>
                <a:spcPts val="1080"/>
              </a:spcAft>
              <a:buChar char="•"/>
            </a:pPr>
            <a:r>
              <a:rPr sz="2400" b="0" i="0">
                <a:solidFill>
                  <a:srgbClr val="222222"/>
                </a:solidFill>
                <a:latin typeface="Calibri"/>
              </a:rPr>
              <a:t>K3: 69 of 93 layers; kernel in deck 08, CP in deck 69</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https://arxiv.org/abs/2607.24653</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