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DeepGEMM ships Python plus CUDA headers; DeepJIT builds each kernel the first time it is called and caches the cubin on disk. The compiled_dims default matters: model dimensions are burned in, the token count is not, so one binary serves every batch size.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(256/128) x (7168/128) = 112 blocks on a 132-SM H800. The fix is a tile size nobody would pick by hand, 112, which divides 7168 exactly 64 times. You can only make that choice once you know N, and N is a property of the model, not of the library build.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obvious routes both fail. Compile every variant ahead of time and installation takes forever, or ship a few and fall back to a generic kernel. Autotune at runtime and you pay measurement time, and the kernel you get, hence the numerics, depends on the machine's mood that day.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Triton-style bet, made explicit in DeepGEMM's first release notes: JIT compilation mainly buys you small shapes, where full unrolling and constant bounds matter most. The cache is what keeps the bet affordable.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DeepJIT is now a separate header-only library with CUDA and Ascend backends. Entries are published by atomic rename with a .committed marker, so several processes can race on the same kernel and still share the result; DJ_JIT_CACHE_DIR can list a private cache in front of a read-only shared one.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ranking is a pure function of the shape, so the same call always compiles the same kernel - which is also what makes the numerics reproducible. The chart applies the heuristic's own occupancy formula across the BLOCK_N candidates; 112 and 128 are the two values the README names.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25 template arguments per instantiation. Because the SM budget is a constant, a GEMM can be told to use 100 of 132 SMs and leave the rest to communication kernels; because the utilisation cap is a constant, the kernel inserts a computed number of dummy cycles after each UMMA instead of branching at run time.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launch carries the programmatic-stream-serialization attribute, so the next grid may start while the previous one drains. DeepGEMM's kernels initialise barriers, allocate tensor memory and reconfigure registers first, and only then wait on the dependency - that prologue is the part that gets hidden. set_pdl() flips it for the whole library.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Batch invariance means a token's output does not depend on where it sits in the batch. Split-K breaks it because the number of partial sums changes with the shape, and cuBLASLt breaks it because its heuristics pick different kernels for different batch sizes. Since the 2026-09 release the switch defaults to False, so you opt in.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payoff for RL and for debugging: when a loss spike appears you can replay the step and get the same bits. V4 reports that their matrix multiplication matches or surpasses split-K performance in most major scenarios, so batch invariance is not paid for in throughput.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honest about the cold start: a serving stack that meets a new shape mid-flight pays a compile. Both major engines therefore walk the model once and compile everything first. The include parser is a line scanner, so a dependency it cannot see - CUTLASS, for example - has to be named in the signature or the cache will hand back a stale kernel.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Related decks: 25 for the DeepGEMM library, 30 for the dense GEMM and its scaling layout, 43 for TileLang's batch-invariant kernels.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371600"/>
            <a:ext cx="11094415" cy="2011680"/>
          </a:xfrm>
          <a:prstGeom prst="rect">
            <a:avLst/>
          </a:prstGeom>
          <a:noFill/>
        </p:spPr>
        <p:txBody>
          <a:bodyPr wrap="square" lIns="45720" rIns="45720" tIns="27432" bIns="27432" anchor="b">
            <a:spAutoFit/>
          </a:bodyPr>
          <a:lstStyle/>
          <a:p>
            <a:r>
              <a:rPr sz="4000" b="1" i="0">
                <a:solidFill>
                  <a:srgbClr val="1F4E79"/>
                </a:solidFill>
                <a:latin typeface="Calibri"/>
              </a:rPr>
              <a:t>DeepJIT, PDL and determinism switches</a:t>
            </a:r>
          </a:p>
          <a:p>
            <a:pPr>
              <a:spcBef>
                <a:spcPts val="600"/>
              </a:spcBef>
            </a:pPr>
            <a:r>
              <a:rPr sz="2600" b="0" i="0">
                <a:solidFill>
                  <a:srgbClr val="222222"/>
                </a:solidFill>
                <a:latin typeface="Calibri"/>
              </a:rPr>
              <a:t>Compiling DeepGEMM's kernels once the shape is known</a:t>
            </a:r>
          </a:p>
        </p:txBody>
      </p:sp>
      <p:sp>
        <p:nvSpPr>
          <p:cNvPr id="3" name="Rectangle 2"/>
          <p:cNvSpPr/>
          <p:nvPr/>
        </p:nvSpPr>
        <p:spPr>
          <a:xfrm>
            <a:off x="548640" y="3520440"/>
            <a:ext cx="1463040" cy="5486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749039"/>
            <a:ext cx="11094415" cy="1188720"/>
          </a:xfrm>
          <a:prstGeom prst="rect">
            <a:avLst/>
          </a:prstGeom>
          <a:noFill/>
        </p:spPr>
        <p:txBody>
          <a:bodyPr wrap="square" lIns="45720" rIns="45720" tIns="27432" bIns="27432" anchor="t">
            <a:spAutoFit/>
          </a:bodyPr>
          <a:lstStyle/>
          <a:p>
            <a:r>
              <a:rPr sz="2200" b="0" u="none">
                <a:solidFill>
                  <a:srgbClr val="222222"/>
                </a:solidFill>
                <a:latin typeface="Calibri"/>
              </a:rPr>
              <a:t>DeepSeek-AI · DeepGEMM (deck 25) · DeepJIT</a:t>
            </a:r>
          </a:p>
          <a:p>
            <a:pPr>
              <a:spcBef>
                <a:spcPts val="600"/>
              </a:spcBef>
            </a:pPr>
            <a:r>
              <a:rPr sz="1800" b="0" i="0">
                <a:solidFill>
                  <a:srgbClr val="6E6E6E"/>
                </a:solidFill>
                <a:latin typeface="Calibri"/>
              </a:rPr>
              <a:t>Explainer deck · Industrial Pretraining Architecture &amp; Infra Tech Landscape (2026)</a:t>
            </a:r>
          </a:p>
        </p:txBody>
      </p:sp>
      <p:sp>
        <p:nvSpPr>
          <p:cNvPr id="5" name="TextBox 4"/>
          <p:cNvSpPr txBox="1"/>
          <p:nvPr/>
        </p:nvSpPr>
        <p:spPr>
          <a:xfrm>
            <a:off x="548640" y="5943600"/>
            <a:ext cx="11094415" cy="457200"/>
          </a:xfrm>
          <a:prstGeom prst="rect">
            <a:avLst/>
          </a:prstGeom>
          <a:noFill/>
        </p:spPr>
        <p:txBody>
          <a:bodyPr wrap="square" lIns="45720" rIns="45720" tIns="27432" bIns="27432" anchor="t">
            <a:spAutoFit/>
          </a:bodyPr>
          <a:lstStyle/>
          <a:p>
            <a:r>
              <a:rPr sz="1600" b="0" i="0">
                <a:solidFill>
                  <a:srgbClr val="6E6E6E"/>
                </a:solidFill>
                <a:latin typeface="Calibri"/>
              </a:rPr>
              <a:t>Kernel Fusion &amp; Runtime · github.com/deepseek-ai/DeepJIT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Every DeepGEMM kernel is compiled on first use</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Installing the library compiles no CUDA kernels</a:t>
            </a:r>
          </a:p>
          <a:p>
            <a:pPr marL="320040" indent="-292608">
              <a:spcAft>
                <a:spcPts val="1080"/>
              </a:spcAft>
              <a:buChar char="•"/>
            </a:pPr>
            <a:r>
              <a:rPr sz="2200" b="0" i="0">
                <a:solidFill>
                  <a:srgbClr val="222222"/>
                </a:solidFill>
                <a:latin typeface="Menlo"/>
              </a:rPr>
              <a:t>compiled_dims = "nk"</a:t>
            </a:r>
            <a:r>
              <a:rPr sz="2400" b="0" i="0">
                <a:solidFill>
                  <a:srgbClr val="222222"/>
                </a:solidFill>
                <a:latin typeface="Calibri"/>
              </a:rPr>
              <a:t>: N and K become constants, M stays dynamic</a:t>
            </a:r>
          </a:p>
          <a:p>
            <a:pPr marL="320040" indent="-292608">
              <a:spcAft>
                <a:spcPts val="1080"/>
              </a:spcAft>
              <a:buChar char="•"/>
            </a:pPr>
            <a:r>
              <a:rPr sz="2400" b="0" i="0">
                <a:solidFill>
                  <a:srgbClr val="222222"/>
                </a:solidFill>
                <a:latin typeface="Calibri"/>
              </a:rPr>
              <a:t>The shapes arrive at run time: tokens, experts, context length</a:t>
            </a:r>
          </a:p>
        </p:txBody>
      </p:sp>
      <p:sp>
        <p:nvSpPr>
          <p:cNvPr id="4" name="TextBox 3"/>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A power-of-two tile can idle 20 SMs</a:t>
            </a:r>
          </a:p>
        </p:txBody>
      </p:sp>
      <p:sp>
        <p:nvSpPr>
          <p:cNvPr id="3" name="TextBox 2"/>
          <p:cNvSpPr txBox="1"/>
          <p:nvPr/>
        </p:nvSpPr>
        <p:spPr>
          <a:xfrm>
            <a:off x="548640" y="2011680"/>
            <a:ext cx="11094415" cy="2011680"/>
          </a:xfrm>
          <a:prstGeom prst="rect">
            <a:avLst/>
          </a:prstGeom>
          <a:noFill/>
        </p:spPr>
        <p:txBody>
          <a:bodyPr wrap="square" lIns="45720" rIns="45720" tIns="27432" bIns="27432" anchor="ctr">
            <a:spAutoFit/>
          </a:bodyPr>
          <a:lstStyle/>
          <a:p>
            <a:pPr algn="ctr"/>
            <a:r>
              <a:rPr sz="9600" b="1" i="0">
                <a:solidFill>
                  <a:srgbClr val="C00000"/>
                </a:solidFill>
                <a:latin typeface="Calibri"/>
              </a:rPr>
              <a:t>112 / 132</a:t>
            </a:r>
          </a:p>
        </p:txBody>
      </p:sp>
      <p:sp>
        <p:nvSpPr>
          <p:cNvPr id="4" name="TextBox 3"/>
          <p:cNvSpPr txBox="1"/>
          <p:nvPr/>
        </p:nvSpPr>
        <p:spPr>
          <a:xfrm>
            <a:off x="548640" y="4023360"/>
            <a:ext cx="11094415" cy="822960"/>
          </a:xfrm>
          <a:prstGeom prst="rect">
            <a:avLst/>
          </a:prstGeom>
          <a:noFill/>
        </p:spPr>
        <p:txBody>
          <a:bodyPr wrap="square" lIns="45720" rIns="45720" tIns="27432" bIns="27432" anchor="t">
            <a:spAutoFit/>
          </a:bodyPr>
          <a:lstStyle/>
          <a:p>
            <a:pPr algn="ctr"/>
            <a:r>
              <a:rPr sz="2600" b="0" i="0">
                <a:solidFill>
                  <a:srgbClr val="222222"/>
                </a:solidFill>
                <a:latin typeface="Calibri"/>
              </a:rPr>
              <a:t>thread blocks that get an SM at M = 256, N = 7168 with a 128x128 tile — BLOCK_N = 112 fills 128 of 132 instead</a:t>
            </a:r>
          </a:p>
        </p:txBody>
      </p:sp>
      <p:sp>
        <p:nvSpPr>
          <p:cNvPr id="5" name="TextBox 4"/>
          <p:cNvSpPr txBox="1"/>
          <p:nvPr/>
        </p:nvSpPr>
        <p:spPr>
          <a:xfrm>
            <a:off x="548640" y="6080760"/>
            <a:ext cx="11094415" cy="320040"/>
          </a:xfrm>
          <a:prstGeom prst="rect">
            <a:avLst/>
          </a:prstGeom>
          <a:noFill/>
        </p:spPr>
        <p:txBody>
          <a:bodyPr wrap="square" lIns="45720" rIns="45720" tIns="27432" bIns="27432" anchor="t">
            <a:spAutoFit/>
          </a:bodyPr>
          <a:lstStyle/>
          <a:p>
            <a:r>
              <a:rPr sz="1400" b="0" i="1">
                <a:solidFill>
                  <a:srgbClr val="6E6E6E"/>
                </a:solidFill>
                <a:latin typeface="Calibri"/>
              </a:rPr>
              <a:t>DeepGEMM README @ commit 8002b769 (2025-03-25), section "Unaligned block sizes"</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Ahead-of-time libraries pick tiles before the shape exists</a:t>
            </a:r>
          </a:p>
        </p:txBody>
      </p:sp>
      <p:sp>
        <p:nvSpPr>
          <p:cNvPr id="3" name="TextBox 2"/>
          <p:cNvSpPr txBox="1"/>
          <p:nvPr/>
        </p:nvSpPr>
        <p:spPr>
          <a:xfrm>
            <a:off x="548640" y="1463040"/>
            <a:ext cx="11094415" cy="370332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A template library freezes its tile set at build time</a:t>
            </a:r>
          </a:p>
          <a:p>
            <a:pPr marL="320040" indent="-292608">
              <a:spcAft>
                <a:spcPts val="1080"/>
              </a:spcAft>
              <a:buChar char="•"/>
            </a:pPr>
            <a:r>
              <a:rPr sz="2400" b="1" i="0">
                <a:solidFill>
                  <a:srgbClr val="C00000"/>
                </a:solidFill>
                <a:latin typeface="Calibri"/>
              </a:rPr>
              <a:t>Autotuning</a:t>
            </a:r>
            <a:r>
              <a:rPr sz="2400" b="0" i="0">
                <a:solidFill>
                  <a:srgbClr val="222222"/>
                </a:solidFill>
                <a:latin typeface="Calibri"/>
              </a:rPr>
              <a:t> pays a benchmark at startup, and the winner varies per machine</a:t>
            </a:r>
          </a:p>
        </p:txBody>
      </p:sp>
      <p:sp>
        <p:nvSpPr>
          <p:cNvPr id="4" name="Rounded Rectangle 3"/>
          <p:cNvSpPr/>
          <p:nvPr/>
        </p:nvSpPr>
        <p:spPr>
          <a:xfrm>
            <a:off x="548640" y="5257800"/>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DeepGEMM selects block sizes, warpgroups, stages and cluster size deterministically — "without auto-tuning"</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compile at the first call</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Then the shape is a constant: scheduler bounds, stages, SM budget, switches</a:t>
            </a:r>
          </a:p>
          <a:p>
            <a:pPr marL="320040" indent="-292608">
              <a:spcAft>
                <a:spcPts val="1080"/>
              </a:spcAft>
              <a:buChar char="•"/>
            </a:pPr>
            <a:r>
              <a:rPr sz="2400" b="0" i="0">
                <a:solidFill>
                  <a:srgbClr val="222222"/>
                </a:solidFill>
                <a:latin typeface="Calibri"/>
              </a:rPr>
              <a:t>The compiler can unroll the MMA pipeline fully and spend fewer registers</a:t>
            </a:r>
          </a:p>
        </p:txBody>
      </p:sp>
      <p:sp>
        <p:nvSpPr>
          <p:cNvPr id="4" name="TextBox 3"/>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compile at the first call</a:t>
            </a:r>
          </a:p>
        </p:txBody>
      </p:sp>
      <p:sp>
        <p:nvSpPr>
          <p:cNvPr id="3" name="TextBox 2"/>
          <p:cNvSpPr txBox="1"/>
          <p:nvPr/>
        </p:nvSpPr>
        <p:spPr>
          <a:xfrm>
            <a:off x="548640" y="1463040"/>
            <a:ext cx="11094415" cy="370332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Then the shape is a constant: scheduler bounds, stages, SM budget, switches</a:t>
            </a:r>
          </a:p>
          <a:p>
            <a:pPr marL="320040" indent="-292608">
              <a:spcAft>
                <a:spcPts val="1080"/>
              </a:spcAft>
              <a:buChar char="•"/>
            </a:pPr>
            <a:r>
              <a:rPr sz="2400" b="0" i="0">
                <a:solidFill>
                  <a:srgbClr val="222222"/>
                </a:solidFill>
                <a:latin typeface="Calibri"/>
              </a:rPr>
              <a:t>The compiler can unroll the MMA pipeline fully and spend fewer registers</a:t>
            </a:r>
          </a:p>
        </p:txBody>
      </p:sp>
      <p:sp>
        <p:nvSpPr>
          <p:cNvPr id="4" name="Rounded Rectangle 3"/>
          <p:cNvSpPr/>
          <p:nvPr/>
        </p:nvSpPr>
        <p:spPr>
          <a:xfrm>
            <a:off x="548640" y="5257800"/>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One compile per shape and config, then a content-addressed cache that every process on the node shares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DeepJIT turns a call into a cached cubin</a:t>
            </a:r>
          </a:p>
        </p:txBody>
      </p:sp>
      <p:pic>
        <p:nvPicPr>
          <p:cNvPr id="3" name="Picture 2" descr="fig_jit.png"/>
          <p:cNvPicPr>
            <a:picLocks noChangeAspect="1"/>
          </p:cNvPicPr>
          <p:nvPr/>
        </p:nvPicPr>
        <p:blipFill>
          <a:blip r:embed="rId2"/>
          <a:stretch>
            <a:fillRect/>
          </a:stretch>
        </p:blipFill>
        <p:spPr>
          <a:xfrm>
            <a:off x="548640" y="1708613"/>
            <a:ext cx="11094415" cy="3806532"/>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The digest covers the source, tracked includes, NVCC version, flags and post hook</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❶ The heuristic ranks tiles, never benchmarks</a:t>
            </a:r>
          </a:p>
        </p:txBody>
      </p:sp>
      <p:pic>
        <p:nvPicPr>
          <p:cNvPr id="3" name="Picture 2" descr="chart_sm_util.png"/>
          <p:cNvPicPr>
            <a:picLocks noChangeAspect="1"/>
          </p:cNvPicPr>
          <p:nvPr/>
        </p:nvPicPr>
        <p:blipFill>
          <a:blip r:embed="rId2"/>
          <a:stretch>
            <a:fillRect/>
          </a:stretch>
        </p:blipFill>
        <p:spPr>
          <a:xfrm>
            <a:off x="5430182" y="1574325"/>
            <a:ext cx="6212872" cy="4075109"/>
          </a:xfrm>
          <a:prstGeom prst="rect">
            <a:avLst/>
          </a:prstGeom>
        </p:spPr>
      </p:pic>
      <p:sp>
        <p:nvSpPr>
          <p:cNvPr id="4" name="TextBox 3"/>
          <p:cNvSpPr txBox="1"/>
          <p:nvPr/>
        </p:nvSpPr>
        <p:spPr>
          <a:xfrm>
            <a:off x="5430182" y="5760719"/>
            <a:ext cx="6212872" cy="365760"/>
          </a:xfrm>
          <a:prstGeom prst="rect">
            <a:avLst/>
          </a:prstGeom>
          <a:noFill/>
        </p:spPr>
        <p:txBody>
          <a:bodyPr wrap="square" lIns="45720" rIns="45720" tIns="27432" bIns="27432" anchor="t">
            <a:spAutoFit/>
          </a:bodyPr>
          <a:lstStyle/>
          <a:p>
            <a:pPr algn="ctr"/>
            <a:r>
              <a:rPr sz="1400" b="0" i="1">
                <a:solidFill>
                  <a:srgbClr val="6E6E6E"/>
                </a:solidFill>
                <a:latin typeface="Calibri"/>
              </a:rPr>
              <a:t>analytic: blocks that get one of the 132 SMs at M = 256, N = 7168</a:t>
            </a:r>
          </a:p>
        </p:txBody>
      </p:sp>
      <p:sp>
        <p:nvSpPr>
          <p:cNvPr id="5" name="TextBox 4"/>
          <p:cNvSpPr txBox="1"/>
          <p:nvPr/>
        </p:nvSpPr>
        <p:spPr>
          <a:xfrm>
            <a:off x="548640" y="1463040"/>
            <a:ext cx="4515782" cy="4297679"/>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Candidates: swap-AB x BLOCK_M x BLOCK_N x cluster</a:t>
            </a:r>
          </a:p>
          <a:p>
            <a:pPr marL="320040" indent="-292608">
              <a:spcAft>
                <a:spcPts val="1080"/>
              </a:spcAft>
              <a:buChar char="•"/>
            </a:pPr>
            <a:r>
              <a:rPr sz="2400" b="0" i="0">
                <a:solidFill>
                  <a:srgbClr val="222222"/>
                </a:solidFill>
                <a:latin typeface="Calibri"/>
              </a:rPr>
              <a:t>Ranked by single wave, multicast, fewer waves, last-wave fill</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What the JIT burns into the generated source</a:t>
            </a:r>
          </a:p>
        </p:txBody>
      </p:sp>
      <p:sp>
        <p:nvSpPr>
          <p:cNvPr id="3" name="TextBox 2"/>
          <p:cNvSpPr txBox="1"/>
          <p:nvPr/>
        </p:nvSpPr>
        <p:spPr>
          <a:xfrm>
            <a:off x="548640" y="1463040"/>
            <a:ext cx="11094415" cy="370332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BLOCK_M/N/K, pipeline stages, swizzle modes, cluster size, thread counts</a:t>
            </a:r>
          </a:p>
          <a:p>
            <a:pPr marL="320040" indent="-292608">
              <a:spcAft>
                <a:spcPts val="1080"/>
              </a:spcAft>
              <a:buChar char="•"/>
            </a:pPr>
            <a:r>
              <a:rPr sz="2200" b="0" i="0">
                <a:solidFill>
                  <a:srgbClr val="222222"/>
                </a:solidFill>
                <a:latin typeface="Menlo"/>
              </a:rPr>
              <a:t>num_sms</a:t>
            </a:r>
            <a:r>
              <a:rPr sz="2400" b="0" i="0">
                <a:solidFill>
                  <a:srgbClr val="222222"/>
                </a:solidFill>
                <a:latin typeface="Calibri"/>
              </a:rPr>
              <a:t>, the tensor-core utilisation cap, the epilogue, the dtypes</a:t>
            </a:r>
          </a:p>
        </p:txBody>
      </p:sp>
      <p:sp>
        <p:nvSpPr>
          <p:cNvPr id="4" name="Rounded Rectangle 3"/>
          <p:cNvSpPr/>
          <p:nvPr/>
        </p:nvSpPr>
        <p:spPr>
          <a:xfrm>
            <a:off x="548640" y="5257800"/>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000" b="1" i="0">
                <a:solidFill>
                  <a:srgbClr val="222222"/>
                </a:solidFill>
                <a:latin typeface="Menlo"/>
              </a:rPr>
              <a:t>set_tc_util(80)</a:t>
            </a:r>
            <a:r>
              <a:rPr sz="2200" b="1" i="0">
                <a:solidFill>
                  <a:srgbClr val="222222"/>
                </a:solidFill>
                <a:latin typeface="Calibri"/>
              </a:rPr>
              <a:t> compiles in idle cycles after each MMA so the clock does not drop</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❷ PDL overlaps the next kernel's prologue</a:t>
            </a:r>
          </a:p>
        </p:txBody>
      </p:sp>
      <p:pic>
        <p:nvPicPr>
          <p:cNvPr id="3" name="Picture 2" descr="fig_pdl.png"/>
          <p:cNvPicPr>
            <a:picLocks noChangeAspect="1"/>
          </p:cNvPicPr>
          <p:nvPr/>
        </p:nvPicPr>
        <p:blipFill>
          <a:blip r:embed="rId2"/>
          <a:stretch>
            <a:fillRect/>
          </a:stretch>
        </p:blipFill>
        <p:spPr>
          <a:xfrm>
            <a:off x="548640" y="1785127"/>
            <a:ext cx="11094415" cy="3653505"/>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Every kernel calls cudaGridDependencySynchronize() after its own setup work</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❸ One switch buys bitwise batch invariance</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200" b="0" i="0">
                <a:solidFill>
                  <a:srgbClr val="222222"/>
                </a:solidFill>
                <a:latin typeface="Menlo"/>
              </a:rPr>
              <a:t>use_deterministic_algorithms(True)</a:t>
            </a:r>
            <a:r>
              <a:rPr sz="2400" b="0" i="0">
                <a:solidFill>
                  <a:srgbClr val="222222"/>
                </a:solidFill>
                <a:latin typeface="Calibri"/>
              </a:rPr>
              <a:t>: no cuBLASLt dispatch, no split-K</a:t>
            </a:r>
          </a:p>
          <a:p>
            <a:pPr marL="320040" indent="-292608">
              <a:spcAft>
                <a:spcPts val="1080"/>
              </a:spcAft>
              <a:buChar char="•"/>
            </a:pPr>
            <a:r>
              <a:rPr sz="2400" b="0" i="0">
                <a:solidFill>
                  <a:srgbClr val="222222"/>
                </a:solidFill>
                <a:latin typeface="Calibri"/>
              </a:rPr>
              <a:t>Mega mHC falls back to a fixed 16-way split, reduced in a later kernel</a:t>
            </a:r>
          </a:p>
          <a:p>
            <a:pPr marL="320040" indent="-292608">
              <a:spcAft>
                <a:spcPts val="1080"/>
              </a:spcAft>
              <a:buChar char="•"/>
            </a:pPr>
            <a:r>
              <a:rPr sz="2400" b="0" i="0">
                <a:solidFill>
                  <a:srgbClr val="222222"/>
                </a:solidFill>
                <a:latin typeface="Calibri"/>
              </a:rPr>
              <a:t>The test suite re-runs each GEMM </a:t>
            </a:r>
            <a:r>
              <a:rPr sz="2400" b="1" i="0">
                <a:solidFill>
                  <a:srgbClr val="222222"/>
                </a:solidFill>
                <a:latin typeface="Calibri"/>
              </a:rPr>
              <a:t>20 times</a:t>
            </a:r>
            <a:r>
              <a:rPr sz="2400" b="0" i="0">
                <a:solidFill>
                  <a:srgbClr val="222222"/>
                </a:solidFill>
                <a:latin typeface="Calibri"/>
              </a:rPr>
              <a:t> and demands bitwise equality</a:t>
            </a:r>
          </a:p>
        </p:txBody>
      </p:sp>
      <p:sp>
        <p:nvSpPr>
          <p:cNvPr id="4" name="TextBox 3"/>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DeepSeek-V4 replaced cuBLAS to keep tokens stable</a:t>
            </a:r>
          </a:p>
        </p:txBody>
      </p:sp>
      <p:sp>
        <p:nvSpPr>
          <p:cNvPr id="3" name="TextBox 2"/>
          <p:cNvSpPr txBox="1"/>
          <p:nvPr/>
        </p:nvSpPr>
        <p:spPr>
          <a:xfrm>
            <a:off x="548640" y="1463040"/>
            <a:ext cx="11094415" cy="370332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Goal: bitwise alignment across pre-training, post-training and inference</a:t>
            </a:r>
          </a:p>
          <a:p>
            <a:pPr marL="320040" indent="-292608">
              <a:spcAft>
                <a:spcPts val="1080"/>
              </a:spcAft>
              <a:buChar char="•"/>
            </a:pPr>
            <a:r>
              <a:rPr sz="2400" b="0" i="0">
                <a:solidFill>
                  <a:srgbClr val="222222"/>
                </a:solidFill>
                <a:latin typeface="Calibri"/>
              </a:rPr>
              <a:t>Split-K abandoned in most scenarios, then recovered by other optimisations</a:t>
            </a:r>
          </a:p>
        </p:txBody>
      </p:sp>
      <p:sp>
        <p:nvSpPr>
          <p:cNvPr id="4" name="Rounded Rectangle 3"/>
          <p:cNvSpPr/>
          <p:nvPr/>
        </p:nvSpPr>
        <p:spPr>
          <a:xfrm>
            <a:off x="548640" y="5257800"/>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cuBLAS "cannot achieve batch invariance", so V4 replaced it end-to-end with DeepGEMM (§3.3)</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The cost: the first call compiles</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SGLang ships a precompile pass with a </a:t>
            </a:r>
            <a:r>
              <a:rPr sz="2400" b="1" i="0">
                <a:solidFill>
                  <a:srgbClr val="222222"/>
                </a:solidFill>
                <a:latin typeface="Calibri"/>
              </a:rPr>
              <a:t>3600 s</a:t>
            </a:r>
            <a:r>
              <a:rPr sz="2400" b="0" i="0">
                <a:solidFill>
                  <a:srgbClr val="222222"/>
                </a:solidFill>
                <a:latin typeface="Calibri"/>
              </a:rPr>
              <a:t> default timeout; vLLM a warm-up module</a:t>
            </a:r>
          </a:p>
          <a:p>
            <a:pPr marL="320040" indent="-292608">
              <a:spcAft>
                <a:spcPts val="1080"/>
              </a:spcAft>
              <a:buChar char="•"/>
            </a:pPr>
            <a:r>
              <a:rPr sz="2400" b="0" i="0">
                <a:solidFill>
                  <a:srgbClr val="222222"/>
                </a:solidFill>
                <a:latin typeface="Calibri"/>
              </a:rPr>
              <a:t>Kernels must be compiled and loaded </a:t>
            </a:r>
            <a:r>
              <a:rPr sz="2400" b="1" i="0">
                <a:solidFill>
                  <a:srgbClr val="222222"/>
                </a:solidFill>
                <a:latin typeface="Calibri"/>
              </a:rPr>
              <a:t>before</a:t>
            </a:r>
            <a:r>
              <a:rPr sz="2400" b="0" i="0">
                <a:solidFill>
                  <a:srgbClr val="222222"/>
                </a:solidFill>
                <a:latin typeface="Calibri"/>
              </a:rPr>
              <a:t> CUDA Graph capture</a:t>
            </a:r>
          </a:p>
          <a:p>
            <a:pPr marL="320040" indent="-292608">
              <a:spcAft>
                <a:spcPts val="1080"/>
              </a:spcAft>
              <a:buChar char="•"/>
            </a:pPr>
            <a:r>
              <a:rPr sz="2400" b="0" i="0">
                <a:solidFill>
                  <a:srgbClr val="222222"/>
                </a:solidFill>
                <a:latin typeface="Calibri"/>
              </a:rPr>
              <a:t>The digest tracks includes, NVCC version and flags; other deps need </a:t>
            </a:r>
            <a:r>
              <a:rPr sz="2200" b="0" i="0">
                <a:solidFill>
                  <a:srgbClr val="222222"/>
                </a:solidFill>
                <a:latin typeface="Menlo"/>
              </a:rPr>
              <a:t>extra_signature</a:t>
            </a:r>
          </a:p>
        </p:txBody>
      </p:sp>
      <p:sp>
        <p:nvSpPr>
          <p:cNvPr id="4" name="TextBox 3"/>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Summary</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A fixed tile can leave </a:t>
            </a:r>
            <a:r>
              <a:rPr sz="2400" b="1" i="0">
                <a:solidFill>
                  <a:srgbClr val="222222"/>
                </a:solidFill>
                <a:latin typeface="Calibri"/>
              </a:rPr>
              <a:t>20 of 132</a:t>
            </a:r>
            <a:r>
              <a:rPr sz="2400" b="0" i="0">
                <a:solidFill>
                  <a:srgbClr val="222222"/>
                </a:solidFill>
                <a:latin typeface="Calibri"/>
              </a:rPr>
              <a:t> SMs idle; the right tile fills 128</a:t>
            </a:r>
          </a:p>
          <a:p>
            <a:pPr marL="320040" indent="-292608">
              <a:spcAft>
                <a:spcPts val="1080"/>
              </a:spcAft>
              <a:buChar char="•"/>
            </a:pPr>
            <a:r>
              <a:rPr sz="2400" b="1" i="0">
                <a:solidFill>
                  <a:srgbClr val="1F4E79"/>
                </a:solidFill>
                <a:latin typeface="Calibri"/>
              </a:rPr>
              <a:t>Insight</a:t>
            </a:r>
            <a:r>
              <a:rPr sz="2400" b="0" i="0">
                <a:solidFill>
                  <a:srgbClr val="222222"/>
                </a:solidFill>
                <a:latin typeface="Calibri"/>
              </a:rPr>
              <a:t>: compile at the first call, when the shape is still a constant</a:t>
            </a:r>
          </a:p>
          <a:p>
            <a:pPr marL="320040" indent="-292608">
              <a:spcAft>
                <a:spcPts val="1080"/>
              </a:spcAft>
              <a:buChar char="•"/>
            </a:pPr>
            <a:r>
              <a:rPr sz="2400" b="0" i="0">
                <a:solidFill>
                  <a:srgbClr val="222222"/>
                </a:solidFill>
                <a:latin typeface="Calibri"/>
              </a:rPr>
              <a:t>Ranking without benchmarking, PDL overlap, SM and determinism switches baked in</a:t>
            </a:r>
          </a:p>
          <a:p>
            <a:pPr marL="320040" indent="-292608">
              <a:spcAft>
                <a:spcPts val="1080"/>
              </a:spcAft>
              <a:buChar char="•"/>
            </a:pPr>
            <a:r>
              <a:rPr sz="2400" b="1" i="0">
                <a:solidFill>
                  <a:srgbClr val="222222"/>
                </a:solidFill>
                <a:latin typeface="Calibri"/>
              </a:rPr>
              <a:t>Bitwise batch invariance</a:t>
            </a:r>
            <a:r>
              <a:rPr sz="2400" b="0" i="0">
                <a:solidFill>
                  <a:srgbClr val="222222"/>
                </a:solidFill>
                <a:latin typeface="Calibri"/>
              </a:rPr>
              <a:t> on demand; V4 replaced cuBLAS end-to-end</a:t>
            </a:r>
          </a:p>
        </p:txBody>
      </p:sp>
      <p:pic>
        <p:nvPicPr>
          <p:cNvPr id="4" name="Picture 3" descr="image.png"/>
          <p:cNvPicPr>
            <a:picLocks noChangeAspect="1"/>
          </p:cNvPicPr>
          <p:nvPr/>
        </p:nvPicPr>
        <p:blipFill>
          <a:blip r:embed="rId2"/>
          <a:stretch>
            <a:fillRect/>
          </a:stretch>
        </p:blipFill>
        <p:spPr>
          <a:xfrm>
            <a:off x="9997135" y="4389120"/>
            <a:ext cx="1645920" cy="1645920"/>
          </a:xfrm>
          <a:prstGeom prst="rect">
            <a:avLst/>
          </a:prstGeom>
        </p:spPr>
      </p:pic>
      <p:sp>
        <p:nvSpPr>
          <p:cNvPr id="5" name="TextBox 4"/>
          <p:cNvSpPr txBox="1"/>
          <p:nvPr/>
        </p:nvSpPr>
        <p:spPr>
          <a:xfrm>
            <a:off x="5242255" y="6080760"/>
            <a:ext cx="6400800" cy="320040"/>
          </a:xfrm>
          <a:prstGeom prst="rect">
            <a:avLst/>
          </a:prstGeom>
          <a:noFill/>
        </p:spPr>
        <p:txBody>
          <a:bodyPr wrap="square" lIns="45720" rIns="45720" tIns="27432" bIns="27432" anchor="t">
            <a:spAutoFit/>
          </a:bodyPr>
          <a:lstStyle/>
          <a:p>
            <a:pPr algn="r"/>
            <a:r>
              <a:rPr sz="1600" b="1" i="0">
                <a:solidFill>
                  <a:srgbClr val="1F4E79"/>
                </a:solidFill>
                <a:latin typeface="Calibri"/>
              </a:rPr>
              <a:t>https://github.com/deepseek-ai/DeepJIT</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